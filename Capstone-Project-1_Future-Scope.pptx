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4" r:id="rId10"/>
    <p:sldId id="265" r:id="rId11"/>
  </p:sldIdLst>
  <p:notesMasterIdLst>
    <p:notesMasterId r:id="rId12"/>
  </p:notesMasterIdLst>
  <p:sldSz cx="12191695" cy="6858000"/>
  <p:notesSz cx="6858000" cy="12191695"/>
  <p:embeddedFontLst>
    <p:embeddedFont>
      <p:font typeface="Atkinson Hyperlegible Next"/>
      <p:regular r:id="rId201314"/>
    </p:embeddedFont>
    <p:embeddedFont>
      <p:font typeface="Atkinson Hyperlegible Next SemiBold"/>
      <p:regular r:id="rId201315"/>
    </p:embeddedFont>
    <p:embeddedFont>
      <p:font typeface="Atkinson Hyperlegible Next Bold"/>
      <p:regular r:id="rId201316"/>
    </p:embeddedFont>
    <p:embeddedFont>
      <p:font typeface="Overpass Extra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capstone project as a coordinated digital workflow for intercity bus reservations. Name the student team and establish that the review will move from purpose and objectives to development, outcomes, and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system from the passenger's point of view. The important shift is from separate manual actions to a connected workflow that brings travel information and booking records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objectives as design decisions rather than a feature list. The platform must help passengers make an informed booking and help staff maintain a dependable operational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advantage is organizational as well as technical. Clear information helps passengers choose, while centralized records help staff work with fewer ambiguities.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limitations as the boundary between a working prototype and a dependable production service. The limitations identify what must be tested, integrated, or maintained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near-term service completion from longer-term intelligence. Payments and confirmations strengthen the transaction, tracking and alerts strengthen the journey, and analytics strengthen operational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across the development line in order. Requirements define the problem, design makes the workflow explicit, development creates the system, testing checks behavior, and feedback helps the team refine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individual course topics to visible project work. Each category supports a different part of the system: understanding the problem, building the solution, verifying it, and working as 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demonstration in the same order a passenger would use the system. Keep the final two minutes for course outcomes and future scope, so the review ends with evidence of learning and a clear direction for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hyperlink" Target="https://gamma.app/?utm_source=made-with-gamma" TargetMode="External"/><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2.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AF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58786" y="685800"/>
            <a:ext cx="6349841" cy="4445000"/>
          </a:xfrm>
          <a:prstGeom prst="roundRect">
            <a:avLst>
              <a:gd name="adj" fmla="val 2743"/>
            </a:avLst>
          </a:prstGeom>
          <a:solidFill>
            <a:srgbClr val="14213D"/>
          </a:solidFill>
          <a:ln/>
        </p:spPr>
      </p:sp>
      <p:sp>
        <p:nvSpPr>
          <p:cNvPr id="3" name="Shape 1"/>
          <p:cNvSpPr/>
          <p:nvPr/>
        </p:nvSpPr>
        <p:spPr>
          <a:xfrm>
            <a:off x="965176" y="1041400"/>
            <a:ext cx="1593116" cy="328017"/>
          </a:xfrm>
          <a:prstGeom prst="roundRect">
            <a:avLst>
              <a:gd name="adj" fmla="val 22115"/>
            </a:avLst>
          </a:prstGeom>
          <a:solidFill>
            <a:srgbClr val="F8D8D3"/>
          </a:solidFill>
          <a:ln/>
        </p:spPr>
      </p:sp>
      <p:sp>
        <p:nvSpPr>
          <p:cNvPr id="4" name="Text 2"/>
          <p:cNvSpPr/>
          <p:nvPr/>
        </p:nvSpPr>
        <p:spPr>
          <a:xfrm>
            <a:off x="1094653" y="1106091"/>
            <a:ext cx="1943746" cy="198636"/>
          </a:xfrm>
          <a:prstGeom prst="rect">
            <a:avLst/>
          </a:prstGeom>
          <a:noFill/>
          <a:ln/>
        </p:spPr>
        <p:txBody>
          <a:bodyPr wrap="none" lIns="0" tIns="0" rIns="0" bIns="0" rtlCol="0" anchor="t"/>
          <a:lstStyle/>
          <a:p>
            <a:pPr algn="l" indent="0" marL="0">
              <a:lnSpc>
                <a:spcPct val="96000"/>
              </a:lnSpc>
              <a:buNone/>
            </a:pPr>
            <a:r>
              <a:rPr lang="en-US" sz="1350" spc="14" kern="100" dirty="0">
                <a:solidFill>
                  <a:srgbClr val="14213D"/>
                </a:solidFill>
                <a:latin typeface="Overpass ExtraBold" pitchFamily="34" charset="0"/>
                <a:ea typeface="Overpass ExtraBold" pitchFamily="34" charset="-122"/>
                <a:cs typeface="Overpass ExtraBold" pitchFamily="34" charset="-120"/>
              </a:rPr>
              <a:t>KLU · SECTION 2</a:t>
            </a:r>
            <a:endParaRPr lang="en-US" sz="1350" dirty="0"/>
          </a:p>
        </p:txBody>
      </p:sp>
      <p:sp>
        <p:nvSpPr>
          <p:cNvPr id="5" name="Text 3"/>
          <p:cNvSpPr/>
          <p:nvPr/>
        </p:nvSpPr>
        <p:spPr>
          <a:xfrm>
            <a:off x="965176" y="1725017"/>
            <a:ext cx="5537061" cy="1347192"/>
          </a:xfrm>
          <a:prstGeom prst="rect">
            <a:avLst/>
          </a:prstGeom>
          <a:noFill/>
          <a:ln/>
        </p:spPr>
        <p:txBody>
          <a:bodyPr wrap="square" lIns="0" tIns="0" rIns="0" bIns="0" rtlCol="0" anchor="t">
            <a:normAutofit/>
          </a:bodyPr>
          <a:lstStyle/>
          <a:p>
            <a:pPr algn="l" indent="0" marL="0">
              <a:lnSpc>
                <a:spcPct val="85000"/>
              </a:lnSpc>
              <a:buNone/>
            </a:pPr>
            <a:r>
              <a:rPr lang="en-US" sz="5200" spc="-26" kern="100" dirty="0">
                <a:solidFill>
                  <a:srgbClr val="FFFFFF"/>
                </a:solidFill>
                <a:latin typeface="Overpass ExtraBold" pitchFamily="34" charset="0"/>
                <a:ea typeface="Overpass ExtraBold" pitchFamily="34" charset="-122"/>
                <a:cs typeface="Overpass ExtraBold" pitchFamily="34" charset="-120"/>
              </a:rPr>
              <a:t>Capstone</a:t>
            </a:r>
            <a:endParaRPr lang="en-US" sz="5200" dirty="0"/>
          </a:p>
          <a:p>
            <a:pPr algn="l" indent="0" marL="0">
              <a:lnSpc>
                <a:spcPct val="85000"/>
              </a:lnSpc>
              <a:buNone/>
            </a:pPr>
            <a:r>
              <a:rPr lang="en-US" sz="5200" spc="-26" kern="100" dirty="0">
                <a:solidFill>
                  <a:srgbClr val="FFFFFF"/>
                </a:solidFill>
                <a:latin typeface="Overpass ExtraBold" pitchFamily="34" charset="0"/>
                <a:ea typeface="Overpass ExtraBold" pitchFamily="34" charset="-122"/>
                <a:cs typeface="Overpass ExtraBold" pitchFamily="34" charset="-120"/>
              </a:rPr>
              <a:t>Project-1</a:t>
            </a:r>
            <a:endParaRPr lang="en-US" sz="5200" dirty="0"/>
          </a:p>
        </p:txBody>
      </p:sp>
      <p:sp>
        <p:nvSpPr>
          <p:cNvPr id="6" name="Text 4"/>
          <p:cNvSpPr/>
          <p:nvPr/>
        </p:nvSpPr>
        <p:spPr>
          <a:xfrm>
            <a:off x="965176" y="3262709"/>
            <a:ext cx="5537061" cy="301625"/>
          </a:xfrm>
          <a:prstGeom prst="rect">
            <a:avLst/>
          </a:prstGeom>
          <a:noFill/>
          <a:ln/>
        </p:spPr>
        <p:txBody>
          <a:bodyPr wrap="none" lIns="0" tIns="0" rIns="0" bIns="0" rtlCol="0" anchor="t"/>
          <a:lstStyle/>
          <a:p>
            <a:pPr algn="l" indent="0" marL="0">
              <a:lnSpc>
                <a:spcPct val="104000"/>
              </a:lnSpc>
              <a:buNone/>
            </a:pPr>
            <a:r>
              <a:rPr lang="en-US" sz="1900" b="1" spc="-9" kern="100" dirty="0">
                <a:solidFill>
                  <a:srgbClr val="FFFFFF"/>
                </a:solidFill>
                <a:latin typeface="Atkinson Hyperlegible Next Bold" pitchFamily="34" charset="0"/>
                <a:ea typeface="Atkinson Hyperlegible Next Bold" pitchFamily="34" charset="-122"/>
                <a:cs typeface="Atkinson Hyperlegible Next Bold" pitchFamily="34" charset="-120"/>
              </a:rPr>
              <a:t>Intercity Bus Reservation System</a:t>
            </a:r>
            <a:endParaRPr lang="en-US" sz="1900" dirty="0"/>
          </a:p>
        </p:txBody>
      </p:sp>
      <p:sp>
        <p:nvSpPr>
          <p:cNvPr id="7" name="Text 5"/>
          <p:cNvSpPr/>
          <p:nvPr/>
        </p:nvSpPr>
        <p:spPr>
          <a:xfrm>
            <a:off x="965176" y="3754834"/>
            <a:ext cx="5537061"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2620030346 · Ch. Siri Chandana</a:t>
            </a:r>
            <a:endParaRPr lang="en-US" sz="1700" dirty="0"/>
          </a:p>
          <a:p>
            <a:pPr algn="l" indent="0" marL="0">
              <a:lnSpc>
                <a:spcPct val="117000"/>
              </a:lnSpc>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2620040098 · V. Yasaswi</a:t>
            </a:r>
            <a:endParaRPr lang="en-US" sz="1700" dirty="0"/>
          </a:p>
        </p:txBody>
      </p:sp>
      <p:pic>
        <p:nvPicPr>
          <p:cNvPr id="8" name="Picture 7" descr="klu_logo_cropped.png"/>
          <p:cNvPicPr>
            <a:picLocks noChangeAspect="1"/>
          </p:cNvPicPr>
          <p:nvPr/>
        </p:nvPicPr>
        <p:blipFill>
          <a:blip r:embed="rId3"/>
          <a:stretch>
            <a:fillRect/>
          </a:stretch>
        </p:blipFill>
        <p:spPr>
          <a:xfrm>
            <a:off x="73152" y="45720"/>
            <a:ext cx="777240" cy="3325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280616"/>
          </a:xfrm>
          <a:prstGeom prst="roundRect">
            <a:avLst>
              <a:gd name="adj" fmla="val 9520"/>
            </a:avLst>
          </a:prstGeom>
          <a:solidFill>
            <a:srgbClr val="14213D"/>
          </a:solidFill>
          <a:ln/>
        </p:spPr>
        <p:txBody>
          <a:bodyPr/>
          <a:p/>
        </p:txBody>
      </p:sp>
      <p:sp>
        <p:nvSpPr>
          <p:cNvPr id="3" name="Text 1"/>
          <p:cNvSpPr/>
          <p:nvPr/>
        </p:nvSpPr>
        <p:spPr>
          <a:xfrm>
            <a:off x="1076954" y="127000"/>
            <a:ext cx="10977581"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KLU · 01 / INTRODUCTION</a:t>
            </a:r>
            <a:endParaRPr lang="en-US" sz="1300" dirty="0"/>
          </a:p>
        </p:txBody>
      </p:sp>
      <p:sp>
        <p:nvSpPr>
          <p:cNvPr id="4" name="Text 2"/>
          <p:cNvSpPr/>
          <p:nvPr/>
        </p:nvSpPr>
        <p:spPr>
          <a:xfrm>
            <a:off x="253994" y="410766"/>
            <a:ext cx="11683708"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One workflow connects the entire reservation journey</a:t>
            </a:r>
            <a:endParaRPr lang="en-US" sz="2700" dirty="0"/>
          </a:p>
        </p:txBody>
      </p:sp>
      <p:sp>
        <p:nvSpPr>
          <p:cNvPr id="5" name="Shape 3"/>
          <p:cNvSpPr/>
          <p:nvPr/>
        </p:nvSpPr>
        <p:spPr>
          <a:xfrm>
            <a:off x="0" y="1585416"/>
            <a:ext cx="12191695" cy="1968302"/>
          </a:xfrm>
          <a:prstGeom prst="roundRect">
            <a:avLst>
              <a:gd name="adj" fmla="val 9291"/>
            </a:avLst>
          </a:prstGeom>
          <a:solidFill>
            <a:srgbClr val="EAF0F7"/>
          </a:solidFill>
          <a:ln/>
        </p:spPr>
      </p:sp>
      <p:sp>
        <p:nvSpPr>
          <p:cNvPr id="6" name="Text 4"/>
          <p:cNvSpPr/>
          <p:nvPr/>
        </p:nvSpPr>
        <p:spPr>
          <a:xfrm>
            <a:off x="304792" y="1814016"/>
            <a:ext cx="7340416"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The Intercity Bus Reservation System is a digital platform that helps passengers search for routes, check bus schedules and seat availability, select a preferred seat, and complete a reservation through one coordinated workflow. It connects passengers, buses, schedules, and booking records while reducing the manual effort required to access travel information.</a:t>
            </a:r>
            <a:endParaRPr lang="en-US" sz="1700" dirty="0"/>
          </a:p>
        </p:txBody>
      </p:sp>
      <p:sp>
        <p:nvSpPr>
          <p:cNvPr id="7" name="Shape 5"/>
          <p:cNvSpPr/>
          <p:nvPr/>
        </p:nvSpPr>
        <p:spPr>
          <a:xfrm>
            <a:off x="0" y="3858518"/>
            <a:ext cx="2819329" cy="1414066"/>
          </a:xfrm>
          <a:prstGeom prst="roundRect">
            <a:avLst>
              <a:gd name="adj" fmla="val 12933"/>
            </a:avLst>
          </a:prstGeom>
          <a:solidFill>
            <a:srgbClr val="EAF0F7"/>
          </a:solidFill>
          <a:ln/>
        </p:spPr>
      </p:sp>
      <p:sp>
        <p:nvSpPr>
          <p:cNvPr id="8" name="Text 6"/>
          <p:cNvSpPr/>
          <p:nvPr/>
        </p:nvSpPr>
        <p:spPr>
          <a:xfrm>
            <a:off x="203195" y="4036318"/>
            <a:ext cx="2412940" cy="301625"/>
          </a:xfrm>
          <a:prstGeom prst="rect">
            <a:avLst/>
          </a:prstGeom>
          <a:noFill/>
          <a:ln/>
        </p:spPr>
        <p:txBody>
          <a:bodyPr wrap="none" lIns="0" tIns="0" rIns="0" bIns="0" rtlCol="0" anchor="t"/>
          <a:lstStyle/>
          <a:p>
            <a:pPr algn="l" indent="0" marL="0">
              <a:lnSpc>
                <a:spcPct val="104000"/>
              </a:lnSpc>
              <a:buNone/>
            </a:pPr>
            <a:r>
              <a:rPr lang="en-US" sz="1900" b="1" dirty="0">
                <a:solidFill>
                  <a:srgbClr val="14213D"/>
                </a:solidFill>
                <a:latin typeface="Atkinson Hyperlegible Next Bold" pitchFamily="34" charset="0"/>
                <a:ea typeface="Atkinson Hyperlegible Next Bold" pitchFamily="34" charset="-122"/>
                <a:cs typeface="Atkinson Hyperlegible Next Bold" pitchFamily="34" charset="-120"/>
              </a:rPr>
              <a:t>Search</a:t>
            </a:r>
            <a:endParaRPr lang="en-US" sz="1900" dirty="0"/>
          </a:p>
        </p:txBody>
      </p:sp>
      <p:sp>
        <p:nvSpPr>
          <p:cNvPr id="9" name="Text 7"/>
          <p:cNvSpPr/>
          <p:nvPr/>
        </p:nvSpPr>
        <p:spPr>
          <a:xfrm>
            <a:off x="203195" y="4490343"/>
            <a:ext cx="241294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Find a route and schedule.</a:t>
            </a:r>
            <a:endParaRPr lang="en-US" sz="1700" dirty="0"/>
          </a:p>
        </p:txBody>
      </p:sp>
      <p:sp>
        <p:nvSpPr>
          <p:cNvPr id="10" name="Shape 8"/>
          <p:cNvSpPr/>
          <p:nvPr/>
        </p:nvSpPr>
        <p:spPr>
          <a:xfrm>
            <a:off x="3124122" y="3858518"/>
            <a:ext cx="2819329" cy="1414066"/>
          </a:xfrm>
          <a:prstGeom prst="roundRect">
            <a:avLst>
              <a:gd name="adj" fmla="val 12933"/>
            </a:avLst>
          </a:prstGeom>
          <a:solidFill>
            <a:srgbClr val="EAF0F7"/>
          </a:solidFill>
          <a:ln/>
        </p:spPr>
      </p:sp>
      <p:sp>
        <p:nvSpPr>
          <p:cNvPr id="11" name="Text 9"/>
          <p:cNvSpPr/>
          <p:nvPr/>
        </p:nvSpPr>
        <p:spPr>
          <a:xfrm>
            <a:off x="3327317" y="4036318"/>
            <a:ext cx="2412940" cy="301625"/>
          </a:xfrm>
          <a:prstGeom prst="rect">
            <a:avLst/>
          </a:prstGeom>
          <a:noFill/>
          <a:ln/>
        </p:spPr>
        <p:txBody>
          <a:bodyPr wrap="none" lIns="0" tIns="0" rIns="0" bIns="0" rtlCol="0" anchor="t"/>
          <a:lstStyle/>
          <a:p>
            <a:pPr algn="l" indent="0" marL="0">
              <a:lnSpc>
                <a:spcPct val="104000"/>
              </a:lnSpc>
              <a:buNone/>
            </a:pPr>
            <a:r>
              <a:rPr lang="en-US" sz="1900" b="1" dirty="0">
                <a:solidFill>
                  <a:srgbClr val="14213D"/>
                </a:solidFill>
                <a:latin typeface="Atkinson Hyperlegible Next Bold" pitchFamily="34" charset="0"/>
                <a:ea typeface="Atkinson Hyperlegible Next Bold" pitchFamily="34" charset="-122"/>
                <a:cs typeface="Atkinson Hyperlegible Next Bold" pitchFamily="34" charset="-120"/>
              </a:rPr>
              <a:t>Check</a:t>
            </a:r>
            <a:endParaRPr lang="en-US" sz="1900" dirty="0"/>
          </a:p>
        </p:txBody>
      </p:sp>
      <p:sp>
        <p:nvSpPr>
          <p:cNvPr id="12" name="Text 10"/>
          <p:cNvSpPr/>
          <p:nvPr/>
        </p:nvSpPr>
        <p:spPr>
          <a:xfrm>
            <a:off x="3327317" y="4490343"/>
            <a:ext cx="241294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Review buses and seat status.</a:t>
            </a:r>
            <a:endParaRPr lang="en-US" sz="1700" dirty="0"/>
          </a:p>
        </p:txBody>
      </p:sp>
      <p:sp>
        <p:nvSpPr>
          <p:cNvPr id="13" name="Shape 11"/>
          <p:cNvSpPr/>
          <p:nvPr/>
        </p:nvSpPr>
        <p:spPr>
          <a:xfrm>
            <a:off x="6248244" y="3858518"/>
            <a:ext cx="2819329" cy="1414066"/>
          </a:xfrm>
          <a:prstGeom prst="roundRect">
            <a:avLst>
              <a:gd name="adj" fmla="val 12933"/>
            </a:avLst>
          </a:prstGeom>
          <a:solidFill>
            <a:srgbClr val="EAF0F7"/>
          </a:solidFill>
          <a:ln/>
        </p:spPr>
      </p:sp>
      <p:sp>
        <p:nvSpPr>
          <p:cNvPr id="14" name="Text 12"/>
          <p:cNvSpPr/>
          <p:nvPr/>
        </p:nvSpPr>
        <p:spPr>
          <a:xfrm>
            <a:off x="6451439" y="4036318"/>
            <a:ext cx="2412940" cy="301625"/>
          </a:xfrm>
          <a:prstGeom prst="rect">
            <a:avLst/>
          </a:prstGeom>
          <a:noFill/>
          <a:ln/>
        </p:spPr>
        <p:txBody>
          <a:bodyPr wrap="none" lIns="0" tIns="0" rIns="0" bIns="0" rtlCol="0" anchor="t"/>
          <a:lstStyle/>
          <a:p>
            <a:pPr algn="l" indent="0" marL="0">
              <a:lnSpc>
                <a:spcPct val="104000"/>
              </a:lnSpc>
              <a:buNone/>
            </a:pPr>
            <a:r>
              <a:rPr lang="en-US" sz="1900" b="1" dirty="0">
                <a:solidFill>
                  <a:srgbClr val="14213D"/>
                </a:solidFill>
                <a:latin typeface="Atkinson Hyperlegible Next Bold" pitchFamily="34" charset="0"/>
                <a:ea typeface="Atkinson Hyperlegible Next Bold" pitchFamily="34" charset="-122"/>
                <a:cs typeface="Atkinson Hyperlegible Next Bold" pitchFamily="34" charset="-120"/>
              </a:rPr>
              <a:t>Select</a:t>
            </a:r>
            <a:endParaRPr lang="en-US" sz="1900" dirty="0"/>
          </a:p>
        </p:txBody>
      </p:sp>
      <p:sp>
        <p:nvSpPr>
          <p:cNvPr id="15" name="Text 13"/>
          <p:cNvSpPr/>
          <p:nvPr/>
        </p:nvSpPr>
        <p:spPr>
          <a:xfrm>
            <a:off x="6451439" y="4490343"/>
            <a:ext cx="2616135" cy="302220"/>
          </a:xfrm>
          <a:prstGeom prst="rect">
            <a:avLst/>
          </a:prstGeom>
          <a:noFill/>
          <a:ln/>
        </p:spPr>
        <p:txBody>
          <a:bodyPr wrap="none" lIns="0" tIns="0" rIns="0" bIns="0" rtlCol="0" anchor="t"/>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Choose a preferred seat.</a:t>
            </a:r>
            <a:endParaRPr lang="en-US" sz="1700" dirty="0"/>
          </a:p>
        </p:txBody>
      </p:sp>
      <p:sp>
        <p:nvSpPr>
          <p:cNvPr id="16" name="Shape 14"/>
          <p:cNvSpPr/>
          <p:nvPr/>
        </p:nvSpPr>
        <p:spPr>
          <a:xfrm>
            <a:off x="9372366" y="3858518"/>
            <a:ext cx="2819329" cy="1414066"/>
          </a:xfrm>
          <a:prstGeom prst="roundRect">
            <a:avLst>
              <a:gd name="adj" fmla="val 12933"/>
            </a:avLst>
          </a:prstGeom>
          <a:solidFill>
            <a:srgbClr val="EAF0F7"/>
          </a:solidFill>
          <a:ln/>
        </p:spPr>
      </p:sp>
      <p:sp>
        <p:nvSpPr>
          <p:cNvPr id="17" name="Text 15"/>
          <p:cNvSpPr/>
          <p:nvPr/>
        </p:nvSpPr>
        <p:spPr>
          <a:xfrm>
            <a:off x="9575560" y="4036318"/>
            <a:ext cx="2412940" cy="301625"/>
          </a:xfrm>
          <a:prstGeom prst="rect">
            <a:avLst/>
          </a:prstGeom>
          <a:noFill/>
          <a:ln/>
        </p:spPr>
        <p:txBody>
          <a:bodyPr wrap="none" lIns="0" tIns="0" rIns="0" bIns="0" rtlCol="0" anchor="t"/>
          <a:lstStyle/>
          <a:p>
            <a:pPr algn="l" indent="0" marL="0">
              <a:lnSpc>
                <a:spcPct val="104000"/>
              </a:lnSpc>
              <a:buNone/>
            </a:pPr>
            <a:r>
              <a:rPr lang="en-US" sz="1900" b="1" dirty="0">
                <a:solidFill>
                  <a:srgbClr val="14213D"/>
                </a:solidFill>
                <a:latin typeface="Atkinson Hyperlegible Next Bold" pitchFamily="34" charset="0"/>
                <a:ea typeface="Atkinson Hyperlegible Next Bold" pitchFamily="34" charset="-122"/>
                <a:cs typeface="Atkinson Hyperlegible Next Bold" pitchFamily="34" charset="-120"/>
              </a:rPr>
              <a:t>Reserve</a:t>
            </a:r>
            <a:endParaRPr lang="en-US" sz="1900" dirty="0"/>
          </a:p>
        </p:txBody>
      </p:sp>
      <p:sp>
        <p:nvSpPr>
          <p:cNvPr id="18" name="Text 16"/>
          <p:cNvSpPr/>
          <p:nvPr/>
        </p:nvSpPr>
        <p:spPr>
          <a:xfrm>
            <a:off x="9575560" y="4490343"/>
            <a:ext cx="241294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Capture details and confirm.</a:t>
            </a:r>
            <a:endParaRPr lang="en-US" sz="1700" dirty="0"/>
          </a:p>
        </p:txBody>
      </p:sp>
      <p:sp>
        <p:nvSpPr>
          <p:cNvPr id="19" name="Shape 17"/>
          <p:cNvSpPr/>
          <p:nvPr/>
        </p:nvSpPr>
        <p:spPr>
          <a:xfrm>
            <a:off x="0" y="5577384"/>
            <a:ext cx="12191695" cy="1280616"/>
          </a:xfrm>
          <a:prstGeom prst="rect">
            <a:avLst/>
          </a:prstGeom>
          <a:solidFill>
            <a:srgbClr val="14213D"/>
          </a:solidFill>
          <a:ln/>
        </p:spPr>
      </p:sp>
      <p:sp>
        <p:nvSpPr>
          <p:cNvPr id="20" name="Text 18"/>
          <p:cNvSpPr/>
          <p:nvPr/>
        </p:nvSpPr>
        <p:spPr>
          <a:xfrm>
            <a:off x="507987" y="5704384"/>
            <a:ext cx="11683708" cy="302220"/>
          </a:xfrm>
          <a:prstGeom prst="rect">
            <a:avLst/>
          </a:prstGeom>
          <a:noFill/>
          <a:ln/>
        </p:spPr>
        <p:txBody>
          <a:bodyPr wrap="none" lIns="0" tIns="0" rIns="0" bIns="0" rtlCol="0" anchor="t"/>
          <a:lstStyle/>
          <a:p>
            <a:pPr algn="l" indent="0" marL="0">
              <a:lnSpc>
                <a:spcPct val="117000"/>
              </a:lnSpc>
              <a:buNone/>
            </a:pPr>
            <a:r>
              <a:rPr lang="en-US" sz="1700" b="1" dirty="0">
                <a:solidFill>
                  <a:srgbClr val="FFFFFF"/>
                </a:solidFill>
                <a:latin typeface="Atkinson Hyperlegible Next Bold" pitchFamily="34" charset="0"/>
                <a:ea typeface="Atkinson Hyperlegible Next Bold" pitchFamily="34" charset="-122"/>
                <a:cs typeface="Atkinson Hyperlegible Next Bold" pitchFamily="34" charset="-120"/>
              </a:rPr>
              <a:t>System view:</a:t>
            </a:r>
            <a:pPr algn="l" indent="0" marL="0">
              <a:lnSpc>
                <a:spcPct val="117000"/>
              </a:lnSpc>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 passengers, buses, schedules, and booking records work together in one coordinated platform.</a:t>
            </a:r>
            <a:endParaRPr lang="en-US" sz="1700" dirty="0"/>
          </a:p>
        </p:txBody>
      </p:sp>
      <p:pic>
        <p:nvPicPr>
          <p:cNvPr id="21" name="Picture 20" descr="klu_logo_cropped.png"/>
          <p:cNvPicPr>
            <a:picLocks noChangeAspect="1"/>
          </p:cNvPicPr>
          <p:nvPr/>
        </p:nvPicPr>
        <p:blipFill>
          <a:blip r:embed="rId3"/>
          <a:stretch>
            <a:fillRect/>
          </a:stretch>
        </p:blipFill>
        <p:spPr>
          <a:xfrm>
            <a:off x="73152" y="45720"/>
            <a:ext cx="777240" cy="3325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16496"/>
          </a:xfrm>
          <a:prstGeom prst="roundRect">
            <a:avLst>
              <a:gd name="adj" fmla="val 11994"/>
            </a:avLst>
          </a:prstGeom>
          <a:solidFill>
            <a:srgbClr val="14213D"/>
          </a:solidFill>
          <a:ln/>
        </p:spPr>
        <p:txBody>
          <a:bodyPr/>
          <a:p/>
        </p:txBody>
      </p:sp>
      <p:sp>
        <p:nvSpPr>
          <p:cNvPr id="3" name="Text 1"/>
          <p:cNvSpPr/>
          <p:nvPr/>
        </p:nvSpPr>
        <p:spPr>
          <a:xfrm>
            <a:off x="1102353" y="177800"/>
            <a:ext cx="10952182"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KLU · 02 / PROJECT OBJECTIVES</a:t>
            </a:r>
            <a:endParaRPr lang="en-US" sz="1300" dirty="0"/>
          </a:p>
        </p:txBody>
      </p:sp>
      <p:sp>
        <p:nvSpPr>
          <p:cNvPr id="4" name="Text 2"/>
          <p:cNvSpPr/>
          <p:nvPr/>
        </p:nvSpPr>
        <p:spPr>
          <a:xfrm>
            <a:off x="279393" y="461566"/>
            <a:ext cx="11632909"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2. Project Objectives</a:t>
            </a:r>
            <a:endParaRPr lang="en-US" sz="2700" dirty="0"/>
          </a:p>
        </p:txBody>
      </p:sp>
      <p:sp>
        <p:nvSpPr>
          <p:cNvPr id="5" name="Shape 3"/>
          <p:cNvSpPr/>
          <p:nvPr/>
        </p:nvSpPr>
        <p:spPr>
          <a:xfrm>
            <a:off x="0" y="1206996"/>
            <a:ext cx="7132161" cy="5651004"/>
          </a:xfrm>
          <a:prstGeom prst="roundRect">
            <a:avLst>
              <a:gd name="adj" fmla="val 3236"/>
            </a:avLst>
          </a:prstGeom>
          <a:solidFill>
            <a:srgbClr val="EAF0F7"/>
          </a:solidFill>
          <a:ln/>
        </p:spPr>
      </p:sp>
      <p:sp>
        <p:nvSpPr>
          <p:cNvPr id="6" name="Text 4"/>
          <p:cNvSpPr/>
          <p:nvPr/>
        </p:nvSpPr>
        <p:spPr>
          <a:xfrm>
            <a:off x="304792" y="1486396"/>
            <a:ext cx="6522577"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Make booking simple, accurate, and manageable.</a:t>
            </a:r>
            <a:endParaRPr lang="en-US" sz="2200" dirty="0"/>
          </a:p>
        </p:txBody>
      </p:sp>
      <p:sp>
        <p:nvSpPr>
          <p:cNvPr id="7" name="Text 5"/>
          <p:cNvSpPr/>
          <p:nvPr/>
        </p:nvSpPr>
        <p:spPr>
          <a:xfrm>
            <a:off x="304792" y="1988046"/>
            <a:ext cx="6522577" cy="2194322"/>
          </a:xfrm>
          <a:prstGeom prst="rect">
            <a:avLst/>
          </a:prstGeom>
          <a:noFill/>
          <a:ln/>
        </p:spPr>
        <p:txBody>
          <a:bodyPr wrap="square" lIns="0" tIns="0" rIns="0" bIns="0" rtlCol="0" anchor="t">
            <a:normAutofit/>
          </a:bodyPr>
          <a:lstStyle/>
          <a:p>
            <a:pPr algn="l" indent="0" marL="0">
              <a:lnSpc>
                <a:spcPct val="117000"/>
              </a:lnSpc>
              <a:spcAft>
                <a:spcPts val="1450"/>
              </a:spcAft>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Provide a simple and reliable way to search routes and schedules, and view seat availability.</a:t>
            </a:r>
            <a:endParaRPr lang="en-US" sz="1700" dirty="0"/>
          </a:p>
          <a:p>
            <a:pPr algn="l" indent="0" marL="0">
              <a:lnSpc>
                <a:spcPct val="117000"/>
              </a:lnSpc>
              <a:spcAft>
                <a:spcPts val="1450"/>
              </a:spcAft>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Capture passenger and reservation details accurately, reducing duplicate entries and booking confusion.</a:t>
            </a:r>
            <a:endParaRPr lang="en-US" sz="1700" dirty="0"/>
          </a:p>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Give administrators a manageable view of buses, routes, and reservations.</a:t>
            </a:r>
            <a:endParaRPr lang="en-US" sz="1700" dirty="0"/>
          </a:p>
        </p:txBody>
      </p:sp>
      <p:pic>
        <p:nvPicPr>
          <p:cNvPr id="8" name="Image 0" descr="preencoded.png">    </p:cNvPr>
          <p:cNvPicPr>
            <a:picLocks noChangeAspect="1"/>
          </p:cNvPicPr>
          <p:nvPr/>
        </p:nvPicPr>
        <p:blipFill>
          <a:blip r:embed="rId1"/>
          <a:stretch>
            <a:fillRect/>
          </a:stretch>
        </p:blipFill>
        <p:spPr>
          <a:xfrm>
            <a:off x="7436855" y="1206996"/>
            <a:ext cx="4754840" cy="5651004"/>
          </a:xfrm>
          <a:prstGeom prst="rect">
            <a:avLst/>
          </a:prstGeom>
        </p:spPr>
      </p:pic>
      <p:pic>
        <p:nvPicPr>
          <p:cNvPr id="9" name="Picture 8" descr="klu_logo_cropped.png"/>
          <p:cNvPicPr>
            <a:picLocks noChangeAspect="1"/>
          </p:cNvPicPr>
          <p:nvPr/>
        </p:nvPicPr>
        <p:blipFill>
          <a:blip r:embed="rId4"/>
          <a:stretch>
            <a:fillRect/>
          </a:stretch>
        </p:blipFill>
        <p:spPr>
          <a:xfrm>
            <a:off x="73152" y="45720"/>
            <a:ext cx="777240" cy="3325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7987" y="508000"/>
            <a:ext cx="7823004" cy="1292027"/>
          </a:xfrm>
          <a:prstGeom prst="roundRect">
            <a:avLst>
              <a:gd name="adj" fmla="val 9436"/>
            </a:avLst>
          </a:prstGeom>
          <a:solidFill>
            <a:srgbClr val="14213D"/>
          </a:solidFill>
          <a:ln/>
        </p:spPr>
      </p:sp>
      <p:sp>
        <p:nvSpPr>
          <p:cNvPr id="3" name="Text 1"/>
          <p:cNvSpPr/>
          <p:nvPr/>
        </p:nvSpPr>
        <p:spPr>
          <a:xfrm>
            <a:off x="787380" y="635000"/>
            <a:ext cx="7543611"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KLU · 03 / ADVANTAGES</a:t>
            </a:r>
            <a:endParaRPr lang="en-US" sz="1300" dirty="0"/>
          </a:p>
        </p:txBody>
      </p:sp>
      <p:sp>
        <p:nvSpPr>
          <p:cNvPr id="4" name="Text 2"/>
          <p:cNvSpPr/>
          <p:nvPr/>
        </p:nvSpPr>
        <p:spPr>
          <a:xfrm>
            <a:off x="787380" y="918766"/>
            <a:ext cx="7264218" cy="754261"/>
          </a:xfrm>
          <a:prstGeom prst="rect">
            <a:avLst/>
          </a:prstGeom>
          <a:noFill/>
          <a:ln/>
        </p:spPr>
        <p:txBody>
          <a:bodyPr wrap="square" lIns="0" tIns="0" rIns="0" bIns="0" rtlCol="0" anchor="t">
            <a:normAutofit/>
          </a:bodyPr>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The system turns a counter process into visible, shared information</a:t>
            </a:r>
            <a:endParaRPr lang="en-US" sz="2700" dirty="0"/>
          </a:p>
        </p:txBody>
      </p:sp>
      <p:sp>
        <p:nvSpPr>
          <p:cNvPr id="5" name="Shape 3"/>
          <p:cNvSpPr/>
          <p:nvPr/>
        </p:nvSpPr>
        <p:spPr>
          <a:xfrm>
            <a:off x="507987" y="1927027"/>
            <a:ext cx="5587860" cy="2211487"/>
          </a:xfrm>
          <a:prstGeom prst="roundRect">
            <a:avLst>
              <a:gd name="adj" fmla="val 8269"/>
            </a:avLst>
          </a:prstGeom>
          <a:solidFill>
            <a:srgbClr val="EAF0F7"/>
          </a:solidFill>
          <a:ln/>
        </p:spPr>
      </p:sp>
      <p:sp>
        <p:nvSpPr>
          <p:cNvPr id="6" name="Text 4"/>
          <p:cNvSpPr/>
          <p:nvPr/>
        </p:nvSpPr>
        <p:spPr>
          <a:xfrm>
            <a:off x="787380" y="2181027"/>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PASSENGER EXPERIENCE</a:t>
            </a:r>
            <a:endParaRPr lang="en-US" sz="1300" dirty="0"/>
          </a:p>
        </p:txBody>
      </p:sp>
      <p:sp>
        <p:nvSpPr>
          <p:cNvPr id="7" name="Text 5"/>
          <p:cNvSpPr/>
          <p:nvPr/>
        </p:nvSpPr>
        <p:spPr>
          <a:xfrm>
            <a:off x="787380" y="2464792"/>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Faster and more convenient booking</a:t>
            </a:r>
            <a:endParaRPr lang="en-US" sz="2200" dirty="0"/>
          </a:p>
        </p:txBody>
      </p:sp>
      <p:sp>
        <p:nvSpPr>
          <p:cNvPr id="8" name="Text 6"/>
          <p:cNvSpPr/>
          <p:nvPr/>
        </p:nvSpPr>
        <p:spPr>
          <a:xfrm>
            <a:off x="787380" y="2966442"/>
            <a:ext cx="5029074"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Passengers can review routes, timings, and seat status before completing a reservation, reducing uncertainty at the point of booking.</a:t>
            </a:r>
            <a:endParaRPr lang="en-US" sz="1700" dirty="0"/>
          </a:p>
        </p:txBody>
      </p:sp>
      <p:sp>
        <p:nvSpPr>
          <p:cNvPr id="9" name="Shape 7"/>
          <p:cNvSpPr/>
          <p:nvPr/>
        </p:nvSpPr>
        <p:spPr>
          <a:xfrm>
            <a:off x="6095848" y="1927027"/>
            <a:ext cx="5587860" cy="2211487"/>
          </a:xfrm>
          <a:prstGeom prst="roundRect">
            <a:avLst>
              <a:gd name="adj" fmla="val 8269"/>
            </a:avLst>
          </a:prstGeom>
          <a:solidFill>
            <a:srgbClr val="EAF0F7"/>
          </a:solidFill>
          <a:ln/>
        </p:spPr>
      </p:sp>
      <p:sp>
        <p:nvSpPr>
          <p:cNvPr id="10" name="Text 8"/>
          <p:cNvSpPr/>
          <p:nvPr/>
        </p:nvSpPr>
        <p:spPr>
          <a:xfrm>
            <a:off x="6375241" y="2181027"/>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INFORMATION QUALITY</a:t>
            </a:r>
            <a:endParaRPr lang="en-US" sz="1300" dirty="0"/>
          </a:p>
        </p:txBody>
      </p:sp>
      <p:sp>
        <p:nvSpPr>
          <p:cNvPr id="11" name="Text 9"/>
          <p:cNvSpPr/>
          <p:nvPr/>
        </p:nvSpPr>
        <p:spPr>
          <a:xfrm>
            <a:off x="6375241" y="2464792"/>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Centralized records improve accuracy</a:t>
            </a:r>
            <a:endParaRPr lang="en-US" sz="2200" dirty="0"/>
          </a:p>
        </p:txBody>
      </p:sp>
      <p:sp>
        <p:nvSpPr>
          <p:cNvPr id="12" name="Text 10"/>
          <p:cNvSpPr/>
          <p:nvPr/>
        </p:nvSpPr>
        <p:spPr>
          <a:xfrm>
            <a:off x="6375241" y="2966442"/>
            <a:ext cx="5029074"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A shared reservation record reduces duplicate entries and gives staff a clearer view of current bookings.</a:t>
            </a:r>
            <a:endParaRPr lang="en-US" sz="1700" dirty="0"/>
          </a:p>
        </p:txBody>
      </p:sp>
      <p:sp>
        <p:nvSpPr>
          <p:cNvPr id="13" name="Shape 11"/>
          <p:cNvSpPr/>
          <p:nvPr/>
        </p:nvSpPr>
        <p:spPr>
          <a:xfrm>
            <a:off x="507987" y="4138513"/>
            <a:ext cx="5587860" cy="2211487"/>
          </a:xfrm>
          <a:prstGeom prst="roundRect">
            <a:avLst>
              <a:gd name="adj" fmla="val 8269"/>
            </a:avLst>
          </a:prstGeom>
          <a:solidFill>
            <a:srgbClr val="EAF0F7"/>
          </a:solidFill>
          <a:ln/>
        </p:spPr>
      </p:sp>
      <p:sp>
        <p:nvSpPr>
          <p:cNvPr id="14" name="Text 12"/>
          <p:cNvSpPr/>
          <p:nvPr/>
        </p:nvSpPr>
        <p:spPr>
          <a:xfrm>
            <a:off x="787380" y="4392513"/>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OPERATING FOUNDATION</a:t>
            </a:r>
            <a:endParaRPr lang="en-US" sz="1300" dirty="0"/>
          </a:p>
        </p:txBody>
      </p:sp>
      <p:sp>
        <p:nvSpPr>
          <p:cNvPr id="15" name="Text 13"/>
          <p:cNvSpPr/>
          <p:nvPr/>
        </p:nvSpPr>
        <p:spPr>
          <a:xfrm>
            <a:off x="787380" y="4676279"/>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Ready for broader service features</a:t>
            </a:r>
            <a:endParaRPr lang="en-US" sz="2200" dirty="0"/>
          </a:p>
        </p:txBody>
      </p:sp>
      <p:sp>
        <p:nvSpPr>
          <p:cNvPr id="16" name="Text 14"/>
          <p:cNvSpPr/>
          <p:nvPr/>
        </p:nvSpPr>
        <p:spPr>
          <a:xfrm>
            <a:off x="787380" y="5177929"/>
            <a:ext cx="5029074"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The platform creates a foundation for payments, notifications, travel reports, and future operational improvements.</a:t>
            </a:r>
            <a:endParaRPr lang="en-US" sz="1700" dirty="0"/>
          </a:p>
        </p:txBody>
      </p:sp>
      <p:sp>
        <p:nvSpPr>
          <p:cNvPr id="17" name="Shape 15"/>
          <p:cNvSpPr/>
          <p:nvPr/>
        </p:nvSpPr>
        <p:spPr>
          <a:xfrm>
            <a:off x="6095848" y="4138513"/>
            <a:ext cx="5587860" cy="2211487"/>
          </a:xfrm>
          <a:prstGeom prst="roundRect">
            <a:avLst>
              <a:gd name="adj" fmla="val 8269"/>
            </a:avLst>
          </a:prstGeom>
          <a:solidFill>
            <a:srgbClr val="EAF0F7"/>
          </a:solidFill>
          <a:ln/>
        </p:spPr>
      </p:sp>
      <p:sp>
        <p:nvSpPr>
          <p:cNvPr id="18" name="Text 16"/>
          <p:cNvSpPr/>
          <p:nvPr/>
        </p:nvSpPr>
        <p:spPr>
          <a:xfrm>
            <a:off x="6375241" y="4392513"/>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STAFF SUPPORT</a:t>
            </a:r>
            <a:endParaRPr lang="en-US" sz="1300" dirty="0"/>
          </a:p>
        </p:txBody>
      </p:sp>
      <p:sp>
        <p:nvSpPr>
          <p:cNvPr id="19" name="Text 17"/>
          <p:cNvSpPr/>
          <p:nvPr/>
        </p:nvSpPr>
        <p:spPr>
          <a:xfrm>
            <a:off x="6375241" y="4676279"/>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One view serves passengers and staff</a:t>
            </a:r>
            <a:endParaRPr lang="en-US" sz="2200" dirty="0"/>
          </a:p>
        </p:txBody>
      </p:sp>
      <p:sp>
        <p:nvSpPr>
          <p:cNvPr id="20" name="Text 18"/>
          <p:cNvSpPr/>
          <p:nvPr/>
        </p:nvSpPr>
        <p:spPr>
          <a:xfrm>
            <a:off x="6375241" y="5177929"/>
            <a:ext cx="5029074"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The same coordinated system supports customer booking and administrative oversight without separating the underlying records.</a:t>
            </a:r>
            <a:endParaRPr lang="en-US" sz="1700" dirty="0"/>
          </a:p>
        </p:txBody>
      </p:sp>
      <p:sp>
        <p:nvSpPr>
          <p:cNvPr id="21" name="Shape 19"/>
          <p:cNvSpPr/>
          <p:nvPr/>
        </p:nvSpPr>
        <p:spPr>
          <a:xfrm>
            <a:off x="6086323" y="1927027"/>
            <a:ext cx="19050" cy="2211487"/>
          </a:xfrm>
          <a:prstGeom prst="rect">
            <a:avLst/>
          </a:prstGeom>
          <a:solidFill>
            <a:srgbClr val="C9D3E0"/>
          </a:solidFill>
          <a:ln/>
        </p:spPr>
      </p:sp>
      <p:sp>
        <p:nvSpPr>
          <p:cNvPr id="22" name="Shape 20"/>
          <p:cNvSpPr/>
          <p:nvPr/>
        </p:nvSpPr>
        <p:spPr>
          <a:xfrm>
            <a:off x="507987" y="4128988"/>
            <a:ext cx="5587860" cy="19050"/>
          </a:xfrm>
          <a:prstGeom prst="rect">
            <a:avLst/>
          </a:prstGeom>
          <a:solidFill>
            <a:srgbClr val="C9D3E0"/>
          </a:solidFill>
          <a:ln/>
        </p:spPr>
      </p:sp>
      <p:sp>
        <p:nvSpPr>
          <p:cNvPr id="23" name="Shape 21"/>
          <p:cNvSpPr/>
          <p:nvPr/>
        </p:nvSpPr>
        <p:spPr>
          <a:xfrm>
            <a:off x="6086323" y="4138513"/>
            <a:ext cx="19050" cy="2211487"/>
          </a:xfrm>
          <a:prstGeom prst="rect">
            <a:avLst/>
          </a:prstGeom>
          <a:solidFill>
            <a:srgbClr val="C9D3E0"/>
          </a:solidFill>
          <a:ln/>
        </p:spPr>
      </p:sp>
      <p:sp>
        <p:nvSpPr>
          <p:cNvPr id="24" name="Shape 22"/>
          <p:cNvSpPr/>
          <p:nvPr/>
        </p:nvSpPr>
        <p:spPr>
          <a:xfrm>
            <a:off x="6095848" y="4128988"/>
            <a:ext cx="5587860" cy="19050"/>
          </a:xfrm>
          <a:prstGeom prst="rect">
            <a:avLst/>
          </a:prstGeom>
          <a:solidFill>
            <a:srgbClr val="C9D3E0"/>
          </a:solidFill>
          <a:ln/>
        </p:spPr>
      </p:sp>
      <p:pic>
        <p:nvPicPr>
          <p:cNvPr id="25" name="Picture 24" descr="klu_logo_cropped.png"/>
          <p:cNvPicPr>
            <a:picLocks noChangeAspect="1"/>
          </p:cNvPicPr>
          <p:nvPr/>
        </p:nvPicPr>
        <p:blipFill>
          <a:blip r:embed="rId3"/>
          <a:stretch>
            <a:fillRect/>
          </a:stretch>
        </p:blipFill>
        <p:spPr>
          <a:xfrm>
            <a:off x="73152" y="45720"/>
            <a:ext cx="777240" cy="3325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7987" y="508000"/>
            <a:ext cx="11175720" cy="914896"/>
          </a:xfrm>
          <a:prstGeom prst="roundRect">
            <a:avLst>
              <a:gd name="adj" fmla="val 13326"/>
            </a:avLst>
          </a:prstGeom>
          <a:solidFill>
            <a:srgbClr val="14213D"/>
          </a:solidFill>
          <a:ln/>
        </p:spPr>
      </p:sp>
      <p:sp>
        <p:nvSpPr>
          <p:cNvPr id="3" name="Text 1"/>
          <p:cNvSpPr/>
          <p:nvPr/>
        </p:nvSpPr>
        <p:spPr>
          <a:xfrm>
            <a:off x="761981" y="635000"/>
            <a:ext cx="1092172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KLU · 04 / LIMITATIONS</a:t>
            </a:r>
            <a:endParaRPr lang="en-US" sz="1300" dirty="0"/>
          </a:p>
        </p:txBody>
      </p:sp>
      <p:sp>
        <p:nvSpPr>
          <p:cNvPr id="4" name="Text 2"/>
          <p:cNvSpPr/>
          <p:nvPr/>
        </p:nvSpPr>
        <p:spPr>
          <a:xfrm>
            <a:off x="761981" y="918766"/>
            <a:ext cx="10667733"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The prototype is useful, but operational trust still needs proof</a:t>
            </a:r>
            <a:endParaRPr lang="en-US" sz="2700" dirty="0"/>
          </a:p>
        </p:txBody>
      </p:sp>
      <p:sp>
        <p:nvSpPr>
          <p:cNvPr id="5" name="Shape 3"/>
          <p:cNvSpPr/>
          <p:nvPr/>
        </p:nvSpPr>
        <p:spPr>
          <a:xfrm>
            <a:off x="507987" y="1600696"/>
            <a:ext cx="5435464" cy="4749304"/>
          </a:xfrm>
          <a:prstGeom prst="roundRect">
            <a:avLst>
              <a:gd name="adj" fmla="val 3851"/>
            </a:avLst>
          </a:prstGeom>
          <a:solidFill>
            <a:srgbClr val="EAF0F7"/>
          </a:solidFill>
          <a:ln/>
        </p:spPr>
      </p:sp>
      <p:sp>
        <p:nvSpPr>
          <p:cNvPr id="6" name="Text 4"/>
          <p:cNvSpPr/>
          <p:nvPr/>
        </p:nvSpPr>
        <p:spPr>
          <a:xfrm>
            <a:off x="812780" y="1880096"/>
            <a:ext cx="4825879"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Service &amp; reservations</a:t>
            </a:r>
            <a:endParaRPr lang="en-US" sz="2200" dirty="0"/>
          </a:p>
        </p:txBody>
      </p:sp>
      <p:sp>
        <p:nvSpPr>
          <p:cNvPr id="7" name="Text 5"/>
          <p:cNvSpPr/>
          <p:nvPr/>
        </p:nvSpPr>
        <p:spPr>
          <a:xfrm>
            <a:off x="812780" y="2381746"/>
            <a:ext cx="4825879"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The system depends on reliable internet access and continuous service availability. The current prototype may not include a live payment gateway. Seat information must be updated consistently to prevent booking conflicts.</a:t>
            </a:r>
            <a:endParaRPr lang="en-US" sz="1700" dirty="0"/>
          </a:p>
        </p:txBody>
      </p:sp>
      <p:sp>
        <p:nvSpPr>
          <p:cNvPr id="8" name="Shape 6"/>
          <p:cNvSpPr/>
          <p:nvPr/>
        </p:nvSpPr>
        <p:spPr>
          <a:xfrm>
            <a:off x="6248244" y="1600696"/>
            <a:ext cx="5435464" cy="4749304"/>
          </a:xfrm>
          <a:prstGeom prst="roundRect">
            <a:avLst>
              <a:gd name="adj" fmla="val 3851"/>
            </a:avLst>
          </a:prstGeom>
          <a:solidFill>
            <a:srgbClr val="EAF0F7"/>
          </a:solidFill>
          <a:ln/>
        </p:spPr>
      </p:sp>
      <p:sp>
        <p:nvSpPr>
          <p:cNvPr id="9" name="Text 7"/>
          <p:cNvSpPr/>
          <p:nvPr/>
        </p:nvSpPr>
        <p:spPr>
          <a:xfrm>
            <a:off x="6553036" y="1880096"/>
            <a:ext cx="4825879"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Validation before production</a:t>
            </a:r>
            <a:endParaRPr lang="en-US" sz="2200" dirty="0"/>
          </a:p>
        </p:txBody>
      </p:sp>
      <p:sp>
        <p:nvSpPr>
          <p:cNvPr id="10" name="Text 8"/>
          <p:cNvSpPr/>
          <p:nvPr/>
        </p:nvSpPr>
        <p:spPr>
          <a:xfrm>
            <a:off x="6553036" y="2381746"/>
            <a:ext cx="4825879"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Additional validation is required for security, heavy-load performance, accessibility, mobile optimization, and accurate maintenance of operational data.</a:t>
            </a:r>
            <a:endParaRPr lang="en-US" sz="1700" dirty="0"/>
          </a:p>
        </p:txBody>
      </p:sp>
      <p:pic>
        <p:nvPicPr>
          <p:cNvPr id="11" name="Picture 10" descr="klu_logo_cropped.png"/>
          <p:cNvPicPr>
            <a:picLocks noChangeAspect="1"/>
          </p:cNvPicPr>
          <p:nvPr/>
        </p:nvPicPr>
        <p:blipFill>
          <a:blip r:embed="rId3"/>
          <a:stretch>
            <a:fillRect/>
          </a:stretch>
        </p:blipFill>
        <p:spPr>
          <a:xfrm>
            <a:off x="73152" y="45720"/>
            <a:ext cx="777240" cy="3325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7987" y="508000"/>
            <a:ext cx="8381790" cy="1292027"/>
          </a:xfrm>
          <a:prstGeom prst="roundRect">
            <a:avLst>
              <a:gd name="adj" fmla="val 9436"/>
            </a:avLst>
          </a:prstGeom>
          <a:solidFill>
            <a:srgbClr val="14213D"/>
          </a:solidFill>
          <a:ln/>
        </p:spPr>
        <p:txBody>
          <a:bodyPr/>
          <a:p/>
        </p:txBody>
      </p:sp>
      <p:pic>
        <p:nvPicPr>
          <p:cNvPr id="23" name="Picture 22" descr="klu_logo_cropped.png"/>
          <p:cNvPicPr>
            <a:picLocks noChangeAspect="1"/>
          </p:cNvPicPr>
          <p:nvPr/>
        </p:nvPicPr>
        <p:blipFill>
          <a:blip r:embed="rId3"/>
          <a:stretch>
            <a:fillRect/>
          </a:stretch>
        </p:blipFill>
        <p:spPr>
          <a:xfrm>
            <a:off x="73152" y="45720"/>
            <a:ext cx="777240" cy="332509"/>
          </a:xfrm>
          <a:prstGeom prst="rect">
            <a:avLst/>
          </a:prstGeom>
        </p:spPr>
      </p:pic>
      <p:sp>
        <p:nvSpPr>
          <p:cNvPr id="24" name="TextBox 23"/>
          <p:cNvSpPr txBox="1"/>
          <p:nvPr/>
        </p:nvSpPr>
        <p:spPr>
          <a:xfrm>
            <a:off x="758952" y="630936"/>
            <a:ext cx="8138160" cy="201168"/>
          </a:xfrm>
          <a:prstGeom prst="rect">
            <a:avLst/>
          </a:prstGeom>
          <a:noFill/>
        </p:spPr>
        <p:txBody>
          <a:bodyPr wrap="square" lIns="0" rIns="0" tIns="0" bIns="0" anchor="t">
            <a:spAutoFit/>
          </a:bodyPr>
          <a:lstStyle/>
          <a:p>
            <a:pPr algn="l"/>
            <a:r>
              <a:rPr sz="1300" b="1">
                <a:solidFill>
                  <a:srgbClr val="FFFFFF"/>
                </a:solidFill>
                <a:latin typeface="Atkinson Hyperlegible Next Bold"/>
              </a:rPr>
              <a:t>KLU · 05 / COURSE OUTCOMES</a:t>
            </a:r>
          </a:p>
        </p:txBody>
      </p:sp>
      <p:sp>
        <p:nvSpPr>
          <p:cNvPr id="25" name="TextBox 24"/>
          <p:cNvSpPr txBox="1"/>
          <p:nvPr/>
        </p:nvSpPr>
        <p:spPr>
          <a:xfrm>
            <a:off x="758952" y="914400"/>
            <a:ext cx="10469880" cy="594360"/>
          </a:xfrm>
          <a:prstGeom prst="rect">
            <a:avLst/>
          </a:prstGeom>
          <a:noFill/>
        </p:spPr>
        <p:txBody>
          <a:bodyPr wrap="square" lIns="0" rIns="0" tIns="0" bIns="0" anchor="t">
            <a:spAutoFit/>
          </a:bodyPr>
          <a:lstStyle/>
          <a:p>
            <a:pPr algn="l"/>
            <a:r>
              <a:rPr sz="1900" b="0">
                <a:solidFill>
                  <a:srgbClr val="FFFFFF"/>
                </a:solidFill>
                <a:latin typeface="Overpass ExtraBold"/>
              </a:rPr>
              <a:t>CO1–CO6: Java concepts mapped to the Intercity Bus Reservation System</a:t>
            </a:r>
          </a:p>
        </p:txBody>
      </p:sp>
      <p:sp>
        <p:nvSpPr>
          <p:cNvPr id="26" name="Rounded Rectangle 25"/>
          <p:cNvSpPr/>
          <p:nvPr/>
        </p:nvSpPr>
        <p:spPr>
          <a:xfrm>
            <a:off x="512064" y="1874519"/>
            <a:ext cx="3474720" cy="1627632"/>
          </a:xfrm>
          <a:prstGeom prst="round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1984248"/>
            <a:ext cx="566928" cy="228600"/>
          </a:xfrm>
          <a:prstGeom prst="rect">
            <a:avLst/>
          </a:prstGeom>
          <a:noFill/>
        </p:spPr>
        <p:txBody>
          <a:bodyPr wrap="square" lIns="0" rIns="0" tIns="0" bIns="0" anchor="t">
            <a:spAutoFit/>
          </a:bodyPr>
          <a:lstStyle/>
          <a:p>
            <a:pPr algn="l"/>
            <a:r>
              <a:rPr sz="1500" b="0">
                <a:solidFill>
                  <a:srgbClr val="D23A22"/>
                </a:solidFill>
                <a:latin typeface="Atkinson Hyperlegible Next SemiBold"/>
              </a:rPr>
              <a:t>CO1</a:t>
            </a:r>
          </a:p>
        </p:txBody>
      </p:sp>
      <p:sp>
        <p:nvSpPr>
          <p:cNvPr id="28" name="TextBox 27"/>
          <p:cNvSpPr txBox="1"/>
          <p:nvPr/>
        </p:nvSpPr>
        <p:spPr>
          <a:xfrm>
            <a:off x="676656" y="2267712"/>
            <a:ext cx="3127248" cy="256032"/>
          </a:xfrm>
          <a:prstGeom prst="rect">
            <a:avLst/>
          </a:prstGeom>
          <a:noFill/>
        </p:spPr>
        <p:txBody>
          <a:bodyPr wrap="square" lIns="0" rIns="0" tIns="0" bIns="0" anchor="t">
            <a:spAutoFit/>
          </a:bodyPr>
          <a:lstStyle/>
          <a:p>
            <a:pPr algn="l"/>
            <a:r>
              <a:rPr sz="1120" b="1">
                <a:solidFill>
                  <a:srgbClr val="14213D"/>
                </a:solidFill>
                <a:latin typeface="Atkinson Hyperlegible Next Bold"/>
              </a:rPr>
              <a:t>MODULE 1 · JAVA FOUNDATIONS</a:t>
            </a:r>
          </a:p>
        </p:txBody>
      </p:sp>
      <p:sp>
        <p:nvSpPr>
          <p:cNvPr id="29" name="TextBox 28"/>
          <p:cNvSpPr txBox="1"/>
          <p:nvPr/>
        </p:nvSpPr>
        <p:spPr>
          <a:xfrm>
            <a:off x="676656" y="2578608"/>
            <a:ext cx="3127248" cy="393192"/>
          </a:xfrm>
          <a:prstGeom prst="rect">
            <a:avLst/>
          </a:prstGeom>
          <a:noFill/>
        </p:spPr>
        <p:txBody>
          <a:bodyPr wrap="square" lIns="0" rIns="0" tIns="0" bIns="0" anchor="t">
            <a:spAutoFit/>
          </a:bodyPr>
          <a:lstStyle/>
          <a:p>
            <a:pPr algn="l"/>
            <a:r>
              <a:rPr sz="1130" b="0">
                <a:solidFill>
                  <a:srgbClr val="14213D"/>
                </a:solidFill>
                <a:latin typeface="Atkinson Hyperlegible Next"/>
              </a:rPr>
              <a:t>Algorithms, variables, operators and Scanner input</a:t>
            </a:r>
          </a:p>
        </p:txBody>
      </p:sp>
      <p:sp>
        <p:nvSpPr>
          <p:cNvPr id="30" name="TextBox 29"/>
          <p:cNvSpPr txBox="1"/>
          <p:nvPr/>
        </p:nvSpPr>
        <p:spPr>
          <a:xfrm>
            <a:off x="676656" y="2971800"/>
            <a:ext cx="3127248" cy="429768"/>
          </a:xfrm>
          <a:prstGeom prst="rect">
            <a:avLst/>
          </a:prstGeom>
          <a:noFill/>
        </p:spPr>
        <p:txBody>
          <a:bodyPr wrap="square" lIns="0" rIns="0" tIns="0" bIns="0" anchor="t">
            <a:spAutoFit/>
          </a:bodyPr>
          <a:lstStyle/>
          <a:p>
            <a:pPr algn="l"/>
            <a:r>
              <a:rPr sz="969" b="0">
                <a:solidFill>
                  <a:srgbClr val="555B66"/>
                </a:solidFill>
                <a:latin typeface="Atkinson Hyperlegible Next"/>
              </a:rPr>
              <a:t>Booking workflow: take passenger, route and reservation inputs and process them using Java fundamentals.</a:t>
            </a:r>
          </a:p>
        </p:txBody>
      </p:sp>
      <p:sp>
        <p:nvSpPr>
          <p:cNvPr id="31" name="Rounded Rectangle 30"/>
          <p:cNvSpPr/>
          <p:nvPr/>
        </p:nvSpPr>
        <p:spPr>
          <a:xfrm>
            <a:off x="4251960" y="1874519"/>
            <a:ext cx="3474720" cy="1627632"/>
          </a:xfrm>
          <a:prstGeom prst="round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16552" y="1984248"/>
            <a:ext cx="566928" cy="228600"/>
          </a:xfrm>
          <a:prstGeom prst="rect">
            <a:avLst/>
          </a:prstGeom>
          <a:noFill/>
        </p:spPr>
        <p:txBody>
          <a:bodyPr wrap="square" lIns="0" rIns="0" tIns="0" bIns="0" anchor="t">
            <a:spAutoFit/>
          </a:bodyPr>
          <a:lstStyle/>
          <a:p>
            <a:pPr algn="l"/>
            <a:r>
              <a:rPr sz="1500" b="0">
                <a:solidFill>
                  <a:srgbClr val="D23A22"/>
                </a:solidFill>
                <a:latin typeface="Atkinson Hyperlegible Next SemiBold"/>
              </a:rPr>
              <a:t>CO2</a:t>
            </a:r>
          </a:p>
        </p:txBody>
      </p:sp>
      <p:sp>
        <p:nvSpPr>
          <p:cNvPr id="33" name="TextBox 32"/>
          <p:cNvSpPr txBox="1"/>
          <p:nvPr/>
        </p:nvSpPr>
        <p:spPr>
          <a:xfrm>
            <a:off x="4416552" y="2267712"/>
            <a:ext cx="3127248" cy="256032"/>
          </a:xfrm>
          <a:prstGeom prst="rect">
            <a:avLst/>
          </a:prstGeom>
          <a:noFill/>
        </p:spPr>
        <p:txBody>
          <a:bodyPr wrap="square" lIns="0" rIns="0" tIns="0" bIns="0" anchor="t">
            <a:spAutoFit/>
          </a:bodyPr>
          <a:lstStyle/>
          <a:p>
            <a:pPr algn="l"/>
            <a:r>
              <a:rPr sz="1120" b="1">
                <a:solidFill>
                  <a:srgbClr val="14213D"/>
                </a:solidFill>
                <a:latin typeface="Atkinson Hyperlegible Next Bold"/>
              </a:rPr>
              <a:t>MODULE 2 · CONTROL FLOW</a:t>
            </a:r>
          </a:p>
        </p:txBody>
      </p:sp>
      <p:sp>
        <p:nvSpPr>
          <p:cNvPr id="34" name="TextBox 33"/>
          <p:cNvSpPr txBox="1"/>
          <p:nvPr/>
        </p:nvSpPr>
        <p:spPr>
          <a:xfrm>
            <a:off x="4416552" y="2578608"/>
            <a:ext cx="3127248" cy="393192"/>
          </a:xfrm>
          <a:prstGeom prst="rect">
            <a:avLst/>
          </a:prstGeom>
          <a:noFill/>
        </p:spPr>
        <p:txBody>
          <a:bodyPr wrap="square" lIns="0" rIns="0" tIns="0" bIns="0" anchor="t">
            <a:spAutoFit/>
          </a:bodyPr>
          <a:lstStyle/>
          <a:p>
            <a:pPr algn="l"/>
            <a:r>
              <a:rPr sz="1130" b="0">
                <a:solidFill>
                  <a:srgbClr val="14213D"/>
                </a:solidFill>
                <a:latin typeface="Atkinson Hyperlegible Next"/>
              </a:rPr>
              <a:t>Selection, switch, loops, break and continue</a:t>
            </a:r>
          </a:p>
        </p:txBody>
      </p:sp>
      <p:sp>
        <p:nvSpPr>
          <p:cNvPr id="35" name="TextBox 34"/>
          <p:cNvSpPr txBox="1"/>
          <p:nvPr/>
        </p:nvSpPr>
        <p:spPr>
          <a:xfrm>
            <a:off x="4416552" y="2971800"/>
            <a:ext cx="3127248" cy="429768"/>
          </a:xfrm>
          <a:prstGeom prst="rect">
            <a:avLst/>
          </a:prstGeom>
          <a:noFill/>
        </p:spPr>
        <p:txBody>
          <a:bodyPr wrap="square" lIns="0" rIns="0" tIns="0" bIns="0" anchor="t">
            <a:spAutoFit/>
          </a:bodyPr>
          <a:lstStyle/>
          <a:p>
            <a:pPr algn="l"/>
            <a:r>
              <a:rPr sz="969" b="0">
                <a:solidFill>
                  <a:srgbClr val="555B66"/>
                </a:solidFill>
                <a:latin typeface="Atkinson Hyperlegible Next"/>
              </a:rPr>
              <a:t>Reservation decisions: check seat status, accept/reject bookings, and repeat menu or booking operations.</a:t>
            </a:r>
          </a:p>
        </p:txBody>
      </p:sp>
      <p:sp>
        <p:nvSpPr>
          <p:cNvPr id="36" name="Rounded Rectangle 35"/>
          <p:cNvSpPr/>
          <p:nvPr/>
        </p:nvSpPr>
        <p:spPr>
          <a:xfrm>
            <a:off x="7991856" y="1874519"/>
            <a:ext cx="3474720" cy="1627632"/>
          </a:xfrm>
          <a:prstGeom prst="round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56448" y="1984248"/>
            <a:ext cx="566928" cy="228600"/>
          </a:xfrm>
          <a:prstGeom prst="rect">
            <a:avLst/>
          </a:prstGeom>
          <a:noFill/>
        </p:spPr>
        <p:txBody>
          <a:bodyPr wrap="square" lIns="0" rIns="0" tIns="0" bIns="0" anchor="t">
            <a:spAutoFit/>
          </a:bodyPr>
          <a:lstStyle/>
          <a:p>
            <a:pPr algn="l"/>
            <a:r>
              <a:rPr sz="1500" b="0">
                <a:solidFill>
                  <a:srgbClr val="D23A22"/>
                </a:solidFill>
                <a:latin typeface="Atkinson Hyperlegible Next SemiBold"/>
              </a:rPr>
              <a:t>CO3</a:t>
            </a:r>
          </a:p>
        </p:txBody>
      </p:sp>
      <p:sp>
        <p:nvSpPr>
          <p:cNvPr id="38" name="TextBox 37"/>
          <p:cNvSpPr txBox="1"/>
          <p:nvPr/>
        </p:nvSpPr>
        <p:spPr>
          <a:xfrm>
            <a:off x="8156448" y="2267712"/>
            <a:ext cx="3127248" cy="256032"/>
          </a:xfrm>
          <a:prstGeom prst="rect">
            <a:avLst/>
          </a:prstGeom>
          <a:noFill/>
        </p:spPr>
        <p:txBody>
          <a:bodyPr wrap="square" lIns="0" rIns="0" tIns="0" bIns="0" anchor="t">
            <a:spAutoFit/>
          </a:bodyPr>
          <a:lstStyle/>
          <a:p>
            <a:pPr algn="l"/>
            <a:r>
              <a:rPr sz="1120" b="1">
                <a:solidFill>
                  <a:srgbClr val="14213D"/>
                </a:solidFill>
                <a:latin typeface="Atkinson Hyperlegible Next Bold"/>
              </a:rPr>
              <a:t>MODULE 3 · METHODS &amp; ARRAYS</a:t>
            </a:r>
          </a:p>
        </p:txBody>
      </p:sp>
      <p:sp>
        <p:nvSpPr>
          <p:cNvPr id="39" name="TextBox 38"/>
          <p:cNvSpPr txBox="1"/>
          <p:nvPr/>
        </p:nvSpPr>
        <p:spPr>
          <a:xfrm>
            <a:off x="8156448" y="2578608"/>
            <a:ext cx="3127248" cy="393192"/>
          </a:xfrm>
          <a:prstGeom prst="rect">
            <a:avLst/>
          </a:prstGeom>
          <a:noFill/>
        </p:spPr>
        <p:txBody>
          <a:bodyPr wrap="square" lIns="0" rIns="0" tIns="0" bIns="0" anchor="t">
            <a:spAutoFit/>
          </a:bodyPr>
          <a:lstStyle/>
          <a:p>
            <a:pPr algn="l"/>
            <a:r>
              <a:rPr sz="1130" b="0">
                <a:solidFill>
                  <a:srgbClr val="14213D"/>
                </a:solidFill>
                <a:latin typeface="Atkinson Hyperlegible Next"/>
              </a:rPr>
              <a:t>Methods, recursion, 1D/2D arrays and processing</a:t>
            </a:r>
          </a:p>
        </p:txBody>
      </p:sp>
      <p:sp>
        <p:nvSpPr>
          <p:cNvPr id="40" name="TextBox 39"/>
          <p:cNvSpPr txBox="1"/>
          <p:nvPr/>
        </p:nvSpPr>
        <p:spPr>
          <a:xfrm>
            <a:off x="8156448" y="2971800"/>
            <a:ext cx="3127248" cy="429768"/>
          </a:xfrm>
          <a:prstGeom prst="rect">
            <a:avLst/>
          </a:prstGeom>
          <a:noFill/>
        </p:spPr>
        <p:txBody>
          <a:bodyPr wrap="square" lIns="0" rIns="0" tIns="0" bIns="0" anchor="t">
            <a:spAutoFit/>
          </a:bodyPr>
          <a:lstStyle/>
          <a:p>
            <a:pPr algn="l"/>
            <a:r>
              <a:rPr sz="969" b="0">
                <a:solidFill>
                  <a:srgbClr val="555B66"/>
                </a:solidFill>
                <a:latin typeface="Atkinson Hyperlegible Next"/>
              </a:rPr>
              <a:t>Modular operations for routes, seats and bookings; arrays can represent seat layouts and schedule data.</a:t>
            </a:r>
          </a:p>
        </p:txBody>
      </p:sp>
      <p:sp>
        <p:nvSpPr>
          <p:cNvPr id="41" name="Rounded Rectangle 40"/>
          <p:cNvSpPr/>
          <p:nvPr/>
        </p:nvSpPr>
        <p:spPr>
          <a:xfrm>
            <a:off x="512064" y="3767328"/>
            <a:ext cx="3474720" cy="1627632"/>
          </a:xfrm>
          <a:prstGeom prst="round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3877056"/>
            <a:ext cx="566928" cy="228600"/>
          </a:xfrm>
          <a:prstGeom prst="rect">
            <a:avLst/>
          </a:prstGeom>
          <a:noFill/>
        </p:spPr>
        <p:txBody>
          <a:bodyPr wrap="square" lIns="0" rIns="0" tIns="0" bIns="0" anchor="t">
            <a:spAutoFit/>
          </a:bodyPr>
          <a:lstStyle/>
          <a:p>
            <a:pPr algn="l"/>
            <a:r>
              <a:rPr sz="1500" b="0">
                <a:solidFill>
                  <a:srgbClr val="D23A22"/>
                </a:solidFill>
                <a:latin typeface="Atkinson Hyperlegible Next SemiBold"/>
              </a:rPr>
              <a:t>CO4</a:t>
            </a:r>
          </a:p>
        </p:txBody>
      </p:sp>
      <p:sp>
        <p:nvSpPr>
          <p:cNvPr id="43" name="TextBox 42"/>
          <p:cNvSpPr txBox="1"/>
          <p:nvPr/>
        </p:nvSpPr>
        <p:spPr>
          <a:xfrm>
            <a:off x="676656" y="4160520"/>
            <a:ext cx="3127248" cy="256032"/>
          </a:xfrm>
          <a:prstGeom prst="rect">
            <a:avLst/>
          </a:prstGeom>
          <a:noFill/>
        </p:spPr>
        <p:txBody>
          <a:bodyPr wrap="square" lIns="0" rIns="0" tIns="0" bIns="0" anchor="t">
            <a:spAutoFit/>
          </a:bodyPr>
          <a:lstStyle/>
          <a:p>
            <a:pPr algn="l"/>
            <a:r>
              <a:rPr sz="1120" b="1">
                <a:solidFill>
                  <a:srgbClr val="14213D"/>
                </a:solidFill>
                <a:latin typeface="Atkinson Hyperlegible Next Bold"/>
              </a:rPr>
              <a:t>MODULE 4 · OOP &amp; EXCEPTIONS</a:t>
            </a:r>
          </a:p>
        </p:txBody>
      </p:sp>
      <p:sp>
        <p:nvSpPr>
          <p:cNvPr id="44" name="TextBox 43"/>
          <p:cNvSpPr txBox="1"/>
          <p:nvPr/>
        </p:nvSpPr>
        <p:spPr>
          <a:xfrm>
            <a:off x="676656" y="4471416"/>
            <a:ext cx="3127248" cy="393192"/>
          </a:xfrm>
          <a:prstGeom prst="rect">
            <a:avLst/>
          </a:prstGeom>
          <a:noFill/>
        </p:spPr>
        <p:txBody>
          <a:bodyPr wrap="square" lIns="0" rIns="0" tIns="0" bIns="0" anchor="t">
            <a:spAutoFit/>
          </a:bodyPr>
          <a:lstStyle/>
          <a:p>
            <a:pPr algn="l"/>
            <a:r>
              <a:rPr sz="1130" b="0">
                <a:solidFill>
                  <a:srgbClr val="14213D"/>
                </a:solidFill>
                <a:latin typeface="Atkinson Hyperlegible Next"/>
              </a:rPr>
              <a:t>Classes, objects, encapsulation, inheritance and exceptions</a:t>
            </a:r>
          </a:p>
        </p:txBody>
      </p:sp>
      <p:sp>
        <p:nvSpPr>
          <p:cNvPr id="45" name="TextBox 44"/>
          <p:cNvSpPr txBox="1"/>
          <p:nvPr/>
        </p:nvSpPr>
        <p:spPr>
          <a:xfrm>
            <a:off x="676656" y="4864608"/>
            <a:ext cx="3127248" cy="429768"/>
          </a:xfrm>
          <a:prstGeom prst="rect">
            <a:avLst/>
          </a:prstGeom>
          <a:noFill/>
        </p:spPr>
        <p:txBody>
          <a:bodyPr wrap="square" lIns="0" rIns="0" tIns="0" bIns="0" anchor="t">
            <a:spAutoFit/>
          </a:bodyPr>
          <a:lstStyle/>
          <a:p>
            <a:pPr algn="l"/>
            <a:r>
              <a:rPr sz="969" b="0">
                <a:solidFill>
                  <a:srgbClr val="555B66"/>
                </a:solidFill>
                <a:latin typeface="Atkinson Hyperlegible Next"/>
              </a:rPr>
              <a:t>Model Passenger, Bus, Route, Seat and Reservation objects; handle invalid or failed booking operations.</a:t>
            </a:r>
          </a:p>
        </p:txBody>
      </p:sp>
      <p:sp>
        <p:nvSpPr>
          <p:cNvPr id="46" name="Rounded Rectangle 45"/>
          <p:cNvSpPr/>
          <p:nvPr/>
        </p:nvSpPr>
        <p:spPr>
          <a:xfrm>
            <a:off x="4251960" y="3767328"/>
            <a:ext cx="3474720" cy="1627632"/>
          </a:xfrm>
          <a:prstGeom prst="round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16552" y="3877056"/>
            <a:ext cx="566928" cy="228600"/>
          </a:xfrm>
          <a:prstGeom prst="rect">
            <a:avLst/>
          </a:prstGeom>
          <a:noFill/>
        </p:spPr>
        <p:txBody>
          <a:bodyPr wrap="square" lIns="0" rIns="0" tIns="0" bIns="0" anchor="t">
            <a:spAutoFit/>
          </a:bodyPr>
          <a:lstStyle/>
          <a:p>
            <a:pPr algn="l"/>
            <a:r>
              <a:rPr sz="1500" b="0">
                <a:solidFill>
                  <a:srgbClr val="D23A22"/>
                </a:solidFill>
                <a:latin typeface="Atkinson Hyperlegible Next SemiBold"/>
              </a:rPr>
              <a:t>CO5</a:t>
            </a:r>
          </a:p>
        </p:txBody>
      </p:sp>
      <p:sp>
        <p:nvSpPr>
          <p:cNvPr id="48" name="TextBox 47"/>
          <p:cNvSpPr txBox="1"/>
          <p:nvPr/>
        </p:nvSpPr>
        <p:spPr>
          <a:xfrm>
            <a:off x="4416552" y="4160520"/>
            <a:ext cx="3127248" cy="256032"/>
          </a:xfrm>
          <a:prstGeom prst="rect">
            <a:avLst/>
          </a:prstGeom>
          <a:noFill/>
        </p:spPr>
        <p:txBody>
          <a:bodyPr wrap="square" lIns="0" rIns="0" tIns="0" bIns="0" anchor="t">
            <a:spAutoFit/>
          </a:bodyPr>
          <a:lstStyle/>
          <a:p>
            <a:pPr algn="l"/>
            <a:r>
              <a:rPr sz="1120" b="1">
                <a:solidFill>
                  <a:srgbClr val="14213D"/>
                </a:solidFill>
                <a:latin typeface="Atkinson Hyperlegible Next Bold"/>
              </a:rPr>
              <a:t>MODULE 5 · STRINGS &amp; FILE I/O</a:t>
            </a:r>
          </a:p>
        </p:txBody>
      </p:sp>
      <p:sp>
        <p:nvSpPr>
          <p:cNvPr id="49" name="TextBox 48"/>
          <p:cNvSpPr txBox="1"/>
          <p:nvPr/>
        </p:nvSpPr>
        <p:spPr>
          <a:xfrm>
            <a:off x="4416552" y="4471416"/>
            <a:ext cx="3127248" cy="393192"/>
          </a:xfrm>
          <a:prstGeom prst="rect">
            <a:avLst/>
          </a:prstGeom>
          <a:noFill/>
        </p:spPr>
        <p:txBody>
          <a:bodyPr wrap="square" lIns="0" rIns="0" tIns="0" bIns="0" anchor="t">
            <a:spAutoFit/>
          </a:bodyPr>
          <a:lstStyle/>
          <a:p>
            <a:pPr algn="l"/>
            <a:r>
              <a:rPr sz="1130" b="0">
                <a:solidFill>
                  <a:srgbClr val="14213D"/>
                </a:solidFill>
                <a:latin typeface="Atkinson Hyperlegible Next"/>
              </a:rPr>
              <a:t>String processing, search/sort and file input/output</a:t>
            </a:r>
          </a:p>
        </p:txBody>
      </p:sp>
      <p:sp>
        <p:nvSpPr>
          <p:cNvPr id="50" name="TextBox 49"/>
          <p:cNvSpPr txBox="1"/>
          <p:nvPr/>
        </p:nvSpPr>
        <p:spPr>
          <a:xfrm>
            <a:off x="4416552" y="4864608"/>
            <a:ext cx="3127248" cy="429768"/>
          </a:xfrm>
          <a:prstGeom prst="rect">
            <a:avLst/>
          </a:prstGeom>
          <a:noFill/>
        </p:spPr>
        <p:txBody>
          <a:bodyPr wrap="square" lIns="0" rIns="0" tIns="0" bIns="0" anchor="t">
            <a:spAutoFit/>
          </a:bodyPr>
          <a:lstStyle/>
          <a:p>
            <a:pPr algn="l"/>
            <a:r>
              <a:rPr sz="969" b="0">
                <a:solidFill>
                  <a:srgbClr val="555B66"/>
                </a:solidFill>
                <a:latin typeface="Atkinson Hyperlegible Next"/>
              </a:rPr>
              <a:t>Process passenger and route text, search/sort reservation records, and read or save booking data in files.</a:t>
            </a:r>
          </a:p>
        </p:txBody>
      </p:sp>
      <p:sp>
        <p:nvSpPr>
          <p:cNvPr id="51" name="Rounded Rectangle 50"/>
          <p:cNvSpPr/>
          <p:nvPr/>
        </p:nvSpPr>
        <p:spPr>
          <a:xfrm>
            <a:off x="7991856" y="3767328"/>
            <a:ext cx="3474720" cy="1627632"/>
          </a:xfrm>
          <a:prstGeom prst="round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56448" y="3877056"/>
            <a:ext cx="566928" cy="228600"/>
          </a:xfrm>
          <a:prstGeom prst="rect">
            <a:avLst/>
          </a:prstGeom>
          <a:noFill/>
        </p:spPr>
        <p:txBody>
          <a:bodyPr wrap="square" lIns="0" rIns="0" tIns="0" bIns="0" anchor="t">
            <a:spAutoFit/>
          </a:bodyPr>
          <a:lstStyle/>
          <a:p>
            <a:pPr algn="l"/>
            <a:r>
              <a:rPr sz="1500" b="0">
                <a:solidFill>
                  <a:srgbClr val="D23A22"/>
                </a:solidFill>
                <a:latin typeface="Atkinson Hyperlegible Next SemiBold"/>
              </a:rPr>
              <a:t>CO6</a:t>
            </a:r>
          </a:p>
        </p:txBody>
      </p:sp>
      <p:sp>
        <p:nvSpPr>
          <p:cNvPr id="53" name="TextBox 52"/>
          <p:cNvSpPr txBox="1"/>
          <p:nvPr/>
        </p:nvSpPr>
        <p:spPr>
          <a:xfrm>
            <a:off x="8156448" y="4160520"/>
            <a:ext cx="3127248" cy="256032"/>
          </a:xfrm>
          <a:prstGeom prst="rect">
            <a:avLst/>
          </a:prstGeom>
          <a:noFill/>
        </p:spPr>
        <p:txBody>
          <a:bodyPr wrap="square" lIns="0" rIns="0" tIns="0" bIns="0" anchor="t">
            <a:spAutoFit/>
          </a:bodyPr>
          <a:lstStyle/>
          <a:p>
            <a:pPr algn="l"/>
            <a:r>
              <a:rPr sz="1120" b="1">
                <a:solidFill>
                  <a:srgbClr val="14213D"/>
                </a:solidFill>
                <a:latin typeface="Atkinson Hyperlegible Next Bold"/>
              </a:rPr>
              <a:t>MODULE 6 · COLLECTIONS &amp; STREAMS</a:t>
            </a:r>
          </a:p>
        </p:txBody>
      </p:sp>
      <p:sp>
        <p:nvSpPr>
          <p:cNvPr id="54" name="TextBox 53"/>
          <p:cNvSpPr txBox="1"/>
          <p:nvPr/>
        </p:nvSpPr>
        <p:spPr>
          <a:xfrm>
            <a:off x="8156448" y="4471416"/>
            <a:ext cx="3127248" cy="393192"/>
          </a:xfrm>
          <a:prstGeom prst="rect">
            <a:avLst/>
          </a:prstGeom>
          <a:noFill/>
        </p:spPr>
        <p:txBody>
          <a:bodyPr wrap="square" lIns="0" rIns="0" tIns="0" bIns="0" anchor="t">
            <a:spAutoFit/>
          </a:bodyPr>
          <a:lstStyle/>
          <a:p>
            <a:pPr algn="l"/>
            <a:r>
              <a:rPr sz="1130" b="0">
                <a:solidFill>
                  <a:srgbClr val="14213D"/>
                </a:solidFill>
                <a:latin typeface="Atkinson Hyperlegible Next"/>
              </a:rPr>
              <a:t>List, Set, Map, lambdas and Stream pipelines</a:t>
            </a:r>
          </a:p>
        </p:txBody>
      </p:sp>
      <p:sp>
        <p:nvSpPr>
          <p:cNvPr id="55" name="TextBox 54"/>
          <p:cNvSpPr txBox="1"/>
          <p:nvPr/>
        </p:nvSpPr>
        <p:spPr>
          <a:xfrm>
            <a:off x="8156448" y="4864608"/>
            <a:ext cx="3127248" cy="429768"/>
          </a:xfrm>
          <a:prstGeom prst="rect">
            <a:avLst/>
          </a:prstGeom>
          <a:noFill/>
        </p:spPr>
        <p:txBody>
          <a:bodyPr wrap="square" lIns="0" rIns="0" tIns="0" bIns="0" anchor="t">
            <a:spAutoFit/>
          </a:bodyPr>
          <a:lstStyle/>
          <a:p>
            <a:pPr algn="l"/>
            <a:r>
              <a:rPr sz="969" b="0">
                <a:solidFill>
                  <a:srgbClr val="555B66"/>
                </a:solidFill>
                <a:latin typeface="Atkinson Hyperlegible Next"/>
              </a:rPr>
              <a:t>Manage routes, buses and reservations with collections; filter, sort, group and generate reservation reports.</a:t>
            </a:r>
          </a:p>
        </p:txBody>
      </p:sp>
      <p:sp>
        <p:nvSpPr>
          <p:cNvPr id="56" name="TextBox 55"/>
          <p:cNvSpPr txBox="1"/>
          <p:nvPr/>
        </p:nvSpPr>
        <p:spPr>
          <a:xfrm>
            <a:off x="786384" y="5623560"/>
            <a:ext cx="10424160" cy="347472"/>
          </a:xfrm>
          <a:prstGeom prst="rect">
            <a:avLst/>
          </a:prstGeom>
          <a:noFill/>
        </p:spPr>
        <p:txBody>
          <a:bodyPr wrap="square" lIns="0" rIns="0" tIns="0" bIns="0" anchor="t">
            <a:spAutoFit/>
          </a:bodyPr>
          <a:lstStyle/>
          <a:p>
            <a:pPr algn="l"/>
            <a:r>
              <a:rPr sz="1450" b="1">
                <a:solidFill>
                  <a:srgbClr val="14213D"/>
                </a:solidFill>
                <a:latin typeface="Atkinson Hyperlegible Next Bold"/>
              </a:rPr>
              <a:t>Course alignment: Modules 1–6 map directly to CO1–CO6 in the PSP (Java) handout.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7987" y="1307604"/>
            <a:ext cx="11175720" cy="914896"/>
          </a:xfrm>
          <a:prstGeom prst="roundRect">
            <a:avLst>
              <a:gd name="adj" fmla="val 13326"/>
            </a:avLst>
          </a:prstGeom>
          <a:solidFill>
            <a:srgbClr val="14213D"/>
          </a:solidFill>
          <a:ln/>
        </p:spPr>
      </p:sp>
      <p:sp>
        <p:nvSpPr>
          <p:cNvPr id="3" name="Text 1"/>
          <p:cNvSpPr/>
          <p:nvPr/>
        </p:nvSpPr>
        <p:spPr>
          <a:xfrm>
            <a:off x="761981" y="1434604"/>
            <a:ext cx="1092172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KLU · 06 / PROJECT DEVELOPMENT</a:t>
            </a:r>
            <a:endParaRPr lang="en-US" sz="1300" dirty="0"/>
          </a:p>
        </p:txBody>
      </p:sp>
      <p:sp>
        <p:nvSpPr>
          <p:cNvPr id="4" name="Text 2"/>
          <p:cNvSpPr/>
          <p:nvPr/>
        </p:nvSpPr>
        <p:spPr>
          <a:xfrm>
            <a:off x="761981" y="1718370"/>
            <a:ext cx="10667733"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Development moved from requirements to tested workflow</a:t>
            </a:r>
            <a:endParaRPr lang="en-US" sz="2700" dirty="0"/>
          </a:p>
        </p:txBody>
      </p:sp>
      <p:sp>
        <p:nvSpPr>
          <p:cNvPr id="5" name="Shape 3"/>
          <p:cNvSpPr/>
          <p:nvPr/>
        </p:nvSpPr>
        <p:spPr>
          <a:xfrm>
            <a:off x="507987" y="2476500"/>
            <a:ext cx="3521979" cy="3073797"/>
          </a:xfrm>
          <a:prstGeom prst="roundRect">
            <a:avLst>
              <a:gd name="adj" fmla="val 5949"/>
            </a:avLst>
          </a:prstGeom>
          <a:solidFill>
            <a:srgbClr val="EAF0F7"/>
          </a:solidFill>
          <a:ln/>
        </p:spPr>
      </p:sp>
      <p:sp>
        <p:nvSpPr>
          <p:cNvPr id="6" name="Text 4"/>
          <p:cNvSpPr/>
          <p:nvPr/>
        </p:nvSpPr>
        <p:spPr>
          <a:xfrm>
            <a:off x="736582" y="2705100"/>
            <a:ext cx="702451" cy="215900"/>
          </a:xfrm>
          <a:prstGeom prst="rect">
            <a:avLst/>
          </a:prstGeom>
          <a:noFill/>
          <a:ln/>
        </p:spPr>
        <p:txBody>
          <a:bodyPr wrap="none" lIns="0" tIns="0" rIns="0" bIns="0" rtlCol="0" anchor="t"/>
          <a:lstStyle/>
          <a:p>
            <a:pPr algn="l" indent="0" marL="0">
              <a:lnSpc>
                <a:spcPct val="83000"/>
              </a:lnSpc>
              <a:buNone/>
            </a:pPr>
            <a:r>
              <a:rPr lang="en-US" sz="1700" dirty="0">
                <a:solidFill>
                  <a:srgbClr val="14213D"/>
                </a:solidFill>
                <a:latin typeface="Atkinson Hyperlegible Next SemiBold" pitchFamily="34" charset="0"/>
                <a:ea typeface="Atkinson Hyperlegible Next SemiBold" pitchFamily="34" charset="-122"/>
                <a:cs typeface="Atkinson Hyperlegible Next SemiBold" pitchFamily="34" charset="-120"/>
              </a:rPr>
              <a:t>1</a:t>
            </a:r>
            <a:endParaRPr lang="en-US" sz="1700" dirty="0"/>
          </a:p>
        </p:txBody>
      </p:sp>
      <p:sp>
        <p:nvSpPr>
          <p:cNvPr id="7" name="Text 5"/>
          <p:cNvSpPr/>
          <p:nvPr/>
        </p:nvSpPr>
        <p:spPr>
          <a:xfrm>
            <a:off x="736582" y="3006725"/>
            <a:ext cx="3064791"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Define &amp; design</a:t>
            </a:r>
            <a:endParaRPr lang="en-US" sz="2200" dirty="0"/>
          </a:p>
        </p:txBody>
      </p:sp>
      <p:sp>
        <p:nvSpPr>
          <p:cNvPr id="8" name="Text 6"/>
          <p:cNvSpPr/>
          <p:nvPr/>
        </p:nvSpPr>
        <p:spPr>
          <a:xfrm>
            <a:off x="736582" y="3508375"/>
            <a:ext cx="3064791" cy="181332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Gather requirements; define passenger, staff, and administrator workflows; then design the interface, reservation flow, data model, and validation rules.</a:t>
            </a:r>
            <a:endParaRPr lang="en-US" sz="1700" dirty="0"/>
          </a:p>
        </p:txBody>
      </p:sp>
      <p:sp>
        <p:nvSpPr>
          <p:cNvPr id="9" name="Shape 7"/>
          <p:cNvSpPr/>
          <p:nvPr/>
        </p:nvSpPr>
        <p:spPr>
          <a:xfrm>
            <a:off x="4334759" y="2476500"/>
            <a:ext cx="3522078" cy="3073797"/>
          </a:xfrm>
          <a:prstGeom prst="roundRect">
            <a:avLst>
              <a:gd name="adj" fmla="val 5949"/>
            </a:avLst>
          </a:prstGeom>
          <a:solidFill>
            <a:srgbClr val="EAF0F7"/>
          </a:solidFill>
          <a:ln/>
        </p:spPr>
      </p:sp>
      <p:sp>
        <p:nvSpPr>
          <p:cNvPr id="10" name="Text 8"/>
          <p:cNvSpPr/>
          <p:nvPr/>
        </p:nvSpPr>
        <p:spPr>
          <a:xfrm>
            <a:off x="4563353" y="2705100"/>
            <a:ext cx="732514" cy="215900"/>
          </a:xfrm>
          <a:prstGeom prst="rect">
            <a:avLst/>
          </a:prstGeom>
          <a:noFill/>
          <a:ln/>
        </p:spPr>
        <p:txBody>
          <a:bodyPr wrap="none" lIns="0" tIns="0" rIns="0" bIns="0" rtlCol="0" anchor="t"/>
          <a:lstStyle/>
          <a:p>
            <a:pPr algn="l" indent="0" marL="0">
              <a:lnSpc>
                <a:spcPct val="83000"/>
              </a:lnSpc>
              <a:buNone/>
            </a:pPr>
            <a:r>
              <a:rPr lang="en-US" sz="1700" dirty="0">
                <a:solidFill>
                  <a:srgbClr val="14213D"/>
                </a:solidFill>
                <a:latin typeface="Atkinson Hyperlegible Next SemiBold" pitchFamily="34" charset="0"/>
                <a:ea typeface="Atkinson Hyperlegible Next SemiBold" pitchFamily="34" charset="-122"/>
                <a:cs typeface="Atkinson Hyperlegible Next SemiBold" pitchFamily="34" charset="-120"/>
              </a:rPr>
              <a:t>2</a:t>
            </a:r>
            <a:endParaRPr lang="en-US" sz="1700" dirty="0"/>
          </a:p>
        </p:txBody>
      </p:sp>
      <p:sp>
        <p:nvSpPr>
          <p:cNvPr id="11" name="Text 9"/>
          <p:cNvSpPr/>
          <p:nvPr/>
        </p:nvSpPr>
        <p:spPr>
          <a:xfrm>
            <a:off x="4563353" y="3006725"/>
            <a:ext cx="3064890"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Develop &amp; test</a:t>
            </a:r>
            <a:endParaRPr lang="en-US" sz="2200" dirty="0"/>
          </a:p>
        </p:txBody>
      </p:sp>
      <p:sp>
        <p:nvSpPr>
          <p:cNvPr id="12" name="Text 10"/>
          <p:cNvSpPr/>
          <p:nvPr/>
        </p:nvSpPr>
        <p:spPr>
          <a:xfrm>
            <a:off x="4563353" y="3508375"/>
            <a:ext cx="3064890" cy="181332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Develop the web interface, server-side application, and relational data layer. Test route search, seat selection, booking, cancellation, and error scenarios.</a:t>
            </a:r>
            <a:endParaRPr lang="en-US" sz="1700" dirty="0"/>
          </a:p>
        </p:txBody>
      </p:sp>
      <p:sp>
        <p:nvSpPr>
          <p:cNvPr id="13" name="Shape 11"/>
          <p:cNvSpPr/>
          <p:nvPr/>
        </p:nvSpPr>
        <p:spPr>
          <a:xfrm>
            <a:off x="8161629" y="2476500"/>
            <a:ext cx="3522078" cy="3073797"/>
          </a:xfrm>
          <a:prstGeom prst="roundRect">
            <a:avLst>
              <a:gd name="adj" fmla="val 5949"/>
            </a:avLst>
          </a:prstGeom>
          <a:solidFill>
            <a:srgbClr val="EAF0F7"/>
          </a:solidFill>
          <a:ln/>
        </p:spPr>
      </p:sp>
      <p:sp>
        <p:nvSpPr>
          <p:cNvPr id="14" name="Text 12"/>
          <p:cNvSpPr/>
          <p:nvPr/>
        </p:nvSpPr>
        <p:spPr>
          <a:xfrm>
            <a:off x="8390224" y="2705100"/>
            <a:ext cx="737475" cy="215900"/>
          </a:xfrm>
          <a:prstGeom prst="rect">
            <a:avLst/>
          </a:prstGeom>
          <a:noFill/>
          <a:ln/>
        </p:spPr>
        <p:txBody>
          <a:bodyPr wrap="none" lIns="0" tIns="0" rIns="0" bIns="0" rtlCol="0" anchor="t"/>
          <a:lstStyle/>
          <a:p>
            <a:pPr algn="l" indent="0" marL="0">
              <a:lnSpc>
                <a:spcPct val="83000"/>
              </a:lnSpc>
              <a:buNone/>
            </a:pPr>
            <a:r>
              <a:rPr lang="en-US" sz="1700" dirty="0">
                <a:solidFill>
                  <a:srgbClr val="14213D"/>
                </a:solidFill>
                <a:latin typeface="Atkinson Hyperlegible Next SemiBold" pitchFamily="34" charset="0"/>
                <a:ea typeface="Atkinson Hyperlegible Next SemiBold" pitchFamily="34" charset="-122"/>
                <a:cs typeface="Atkinson Hyperlegible Next SemiBold" pitchFamily="34" charset="-120"/>
              </a:rPr>
              <a:t>3</a:t>
            </a:r>
            <a:endParaRPr lang="en-US" sz="1700" dirty="0"/>
          </a:p>
        </p:txBody>
      </p:sp>
      <p:sp>
        <p:nvSpPr>
          <p:cNvPr id="15" name="Text 13"/>
          <p:cNvSpPr/>
          <p:nvPr/>
        </p:nvSpPr>
        <p:spPr>
          <a:xfrm>
            <a:off x="8390224" y="3006725"/>
            <a:ext cx="3064890"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Refine</a:t>
            </a:r>
            <a:endParaRPr lang="en-US" sz="2200" dirty="0"/>
          </a:p>
        </p:txBody>
      </p:sp>
      <p:sp>
        <p:nvSpPr>
          <p:cNvPr id="16" name="Text 14"/>
          <p:cNvSpPr/>
          <p:nvPr/>
        </p:nvSpPr>
        <p:spPr>
          <a:xfrm>
            <a:off x="8390224" y="3508375"/>
            <a:ext cx="3064890"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Use iterative feedback to refine the prototype. The process used browser-based testing, documentation, and version-controlled teamwork.</a:t>
            </a:r>
            <a:endParaRPr lang="en-US" sz="1700" dirty="0"/>
          </a:p>
        </p:txBody>
      </p:sp>
      <p:pic>
        <p:nvPicPr>
          <p:cNvPr id="17" name="Picture 16" descr="klu_logo_cropped.png"/>
          <p:cNvPicPr>
            <a:picLocks noChangeAspect="1"/>
          </p:cNvPicPr>
          <p:nvPr/>
        </p:nvPicPr>
        <p:blipFill>
          <a:blip r:embed="rId3"/>
          <a:stretch>
            <a:fillRect/>
          </a:stretch>
        </p:blipFill>
        <p:spPr>
          <a:xfrm>
            <a:off x="73152" y="45720"/>
            <a:ext cx="777240" cy="3325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7987" y="508000"/>
            <a:ext cx="8195462" cy="1292027"/>
          </a:xfrm>
          <a:prstGeom prst="roundRect">
            <a:avLst>
              <a:gd name="adj" fmla="val 9436"/>
            </a:avLst>
          </a:prstGeom>
          <a:solidFill>
            <a:srgbClr val="14213D"/>
          </a:solidFill>
          <a:ln/>
        </p:spPr>
      </p:sp>
      <p:sp>
        <p:nvSpPr>
          <p:cNvPr id="3" name="Text 1"/>
          <p:cNvSpPr/>
          <p:nvPr/>
        </p:nvSpPr>
        <p:spPr>
          <a:xfrm>
            <a:off x="787380" y="635000"/>
            <a:ext cx="7916069"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KLU · 08 / TOPICS COVERED</a:t>
            </a:r>
            <a:endParaRPr lang="en-US" sz="1300" dirty="0"/>
          </a:p>
        </p:txBody>
      </p:sp>
      <p:sp>
        <p:nvSpPr>
          <p:cNvPr id="4" name="Text 2"/>
          <p:cNvSpPr/>
          <p:nvPr/>
        </p:nvSpPr>
        <p:spPr>
          <a:xfrm>
            <a:off x="787380" y="918766"/>
            <a:ext cx="7636676" cy="754261"/>
          </a:xfrm>
          <a:prstGeom prst="rect">
            <a:avLst/>
          </a:prstGeom>
          <a:noFill/>
          <a:ln/>
        </p:spPr>
        <p:txBody>
          <a:bodyPr wrap="square" lIns="0" tIns="0" rIns="0" bIns="0" rtlCol="0" anchor="t">
            <a:normAutofit/>
          </a:bodyPr>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The project brings software topics together around one usable system</a:t>
            </a:r>
            <a:endParaRPr lang="en-US" sz="2700" dirty="0"/>
          </a:p>
        </p:txBody>
      </p:sp>
      <p:sp>
        <p:nvSpPr>
          <p:cNvPr id="5" name="Shape 3"/>
          <p:cNvSpPr/>
          <p:nvPr/>
        </p:nvSpPr>
        <p:spPr>
          <a:xfrm>
            <a:off x="507987" y="2003227"/>
            <a:ext cx="5587860" cy="2173387"/>
          </a:xfrm>
          <a:prstGeom prst="roundRect">
            <a:avLst>
              <a:gd name="adj" fmla="val 8414"/>
            </a:avLst>
          </a:prstGeom>
          <a:solidFill>
            <a:srgbClr val="EAF0F7"/>
          </a:solidFill>
          <a:ln/>
        </p:spPr>
      </p:sp>
      <p:sp>
        <p:nvSpPr>
          <p:cNvPr id="6" name="Text 4"/>
          <p:cNvSpPr/>
          <p:nvPr/>
        </p:nvSpPr>
        <p:spPr>
          <a:xfrm>
            <a:off x="787380" y="2231827"/>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UNDERSTAND</a:t>
            </a:r>
            <a:endParaRPr lang="en-US" sz="1300" dirty="0"/>
          </a:p>
        </p:txBody>
      </p:sp>
      <p:sp>
        <p:nvSpPr>
          <p:cNvPr id="7" name="Text 5"/>
          <p:cNvSpPr/>
          <p:nvPr/>
        </p:nvSpPr>
        <p:spPr>
          <a:xfrm>
            <a:off x="787380" y="2515592"/>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Requirements and design</a:t>
            </a:r>
            <a:endParaRPr lang="en-US" sz="2200" dirty="0"/>
          </a:p>
        </p:txBody>
      </p:sp>
      <p:sp>
        <p:nvSpPr>
          <p:cNvPr id="8" name="Text 6"/>
          <p:cNvSpPr/>
          <p:nvPr/>
        </p:nvSpPr>
        <p:spPr>
          <a:xfrm>
            <a:off x="787380" y="3017242"/>
            <a:ext cx="5029074"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Requirements analysis, system design, frontend form design, user interaction, database entities, and relationships.</a:t>
            </a:r>
            <a:endParaRPr lang="en-US" sz="1700" dirty="0"/>
          </a:p>
        </p:txBody>
      </p:sp>
      <p:sp>
        <p:nvSpPr>
          <p:cNvPr id="9" name="Shape 7"/>
          <p:cNvSpPr/>
          <p:nvPr/>
        </p:nvSpPr>
        <p:spPr>
          <a:xfrm>
            <a:off x="6095848" y="2003227"/>
            <a:ext cx="5587860" cy="2173387"/>
          </a:xfrm>
          <a:prstGeom prst="roundRect">
            <a:avLst>
              <a:gd name="adj" fmla="val 8414"/>
            </a:avLst>
          </a:prstGeom>
          <a:solidFill>
            <a:srgbClr val="EAF0F7"/>
          </a:solidFill>
          <a:ln/>
        </p:spPr>
      </p:sp>
      <p:sp>
        <p:nvSpPr>
          <p:cNvPr id="10" name="Text 8"/>
          <p:cNvSpPr/>
          <p:nvPr/>
        </p:nvSpPr>
        <p:spPr>
          <a:xfrm>
            <a:off x="6375241" y="2231827"/>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BUILD</a:t>
            </a:r>
            <a:endParaRPr lang="en-US" sz="1300" dirty="0"/>
          </a:p>
        </p:txBody>
      </p:sp>
      <p:sp>
        <p:nvSpPr>
          <p:cNvPr id="11" name="Text 9"/>
          <p:cNvSpPr/>
          <p:nvPr/>
        </p:nvSpPr>
        <p:spPr>
          <a:xfrm>
            <a:off x="6375241" y="2515592"/>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Logic and data</a:t>
            </a:r>
            <a:endParaRPr lang="en-US" sz="2200" dirty="0"/>
          </a:p>
        </p:txBody>
      </p:sp>
      <p:sp>
        <p:nvSpPr>
          <p:cNvPr id="12" name="Text 10"/>
          <p:cNvSpPr/>
          <p:nvPr/>
        </p:nvSpPr>
        <p:spPr>
          <a:xfrm>
            <a:off x="6375241" y="3017242"/>
            <a:ext cx="502907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Backend logic, validation, CRUD operations, authentication, authorization, and data integrity.</a:t>
            </a:r>
            <a:endParaRPr lang="en-US" sz="1700" dirty="0"/>
          </a:p>
        </p:txBody>
      </p:sp>
      <p:sp>
        <p:nvSpPr>
          <p:cNvPr id="13" name="Shape 11"/>
          <p:cNvSpPr/>
          <p:nvPr/>
        </p:nvSpPr>
        <p:spPr>
          <a:xfrm>
            <a:off x="507987" y="4176613"/>
            <a:ext cx="5587860" cy="2173387"/>
          </a:xfrm>
          <a:prstGeom prst="roundRect">
            <a:avLst>
              <a:gd name="adj" fmla="val 8414"/>
            </a:avLst>
          </a:prstGeom>
          <a:solidFill>
            <a:srgbClr val="EAF0F7"/>
          </a:solidFill>
          <a:ln/>
        </p:spPr>
      </p:sp>
      <p:sp>
        <p:nvSpPr>
          <p:cNvPr id="14" name="Text 12"/>
          <p:cNvSpPr/>
          <p:nvPr/>
        </p:nvSpPr>
        <p:spPr>
          <a:xfrm>
            <a:off x="787380" y="4405213"/>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VERIFY</a:t>
            </a:r>
            <a:endParaRPr lang="en-US" sz="1300" dirty="0"/>
          </a:p>
        </p:txBody>
      </p:sp>
      <p:sp>
        <p:nvSpPr>
          <p:cNvPr id="15" name="Text 13"/>
          <p:cNvSpPr/>
          <p:nvPr/>
        </p:nvSpPr>
        <p:spPr>
          <a:xfrm>
            <a:off x="787380" y="4688979"/>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Quality and debugging</a:t>
            </a:r>
            <a:endParaRPr lang="en-US" sz="2200" dirty="0"/>
          </a:p>
        </p:txBody>
      </p:sp>
      <p:sp>
        <p:nvSpPr>
          <p:cNvPr id="16" name="Text 14"/>
          <p:cNvSpPr/>
          <p:nvPr/>
        </p:nvSpPr>
        <p:spPr>
          <a:xfrm>
            <a:off x="787380" y="5190629"/>
            <a:ext cx="5029074"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Software testing, debugging, error handling, and checking that reservation behavior matches requirements.</a:t>
            </a:r>
            <a:endParaRPr lang="en-US" sz="1700" dirty="0"/>
          </a:p>
        </p:txBody>
      </p:sp>
      <p:sp>
        <p:nvSpPr>
          <p:cNvPr id="17" name="Shape 15"/>
          <p:cNvSpPr/>
          <p:nvPr/>
        </p:nvSpPr>
        <p:spPr>
          <a:xfrm>
            <a:off x="6095848" y="4176613"/>
            <a:ext cx="5587860" cy="2173387"/>
          </a:xfrm>
          <a:prstGeom prst="roundRect">
            <a:avLst>
              <a:gd name="adj" fmla="val 8414"/>
            </a:avLst>
          </a:prstGeom>
          <a:solidFill>
            <a:srgbClr val="EAF0F7"/>
          </a:solidFill>
          <a:ln/>
        </p:spPr>
      </p:sp>
      <p:sp>
        <p:nvSpPr>
          <p:cNvPr id="18" name="Text 16"/>
          <p:cNvSpPr/>
          <p:nvPr/>
        </p:nvSpPr>
        <p:spPr>
          <a:xfrm>
            <a:off x="6375241" y="4405213"/>
            <a:ext cx="5308467"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14213D"/>
                </a:solidFill>
                <a:latin typeface="Atkinson Hyperlegible Next Bold" pitchFamily="34" charset="0"/>
                <a:ea typeface="Atkinson Hyperlegible Next Bold" pitchFamily="34" charset="-122"/>
                <a:cs typeface="Atkinson Hyperlegible Next Bold" pitchFamily="34" charset="-120"/>
              </a:rPr>
              <a:t>WORK TOGETHER</a:t>
            </a:r>
            <a:endParaRPr lang="en-US" sz="1300" dirty="0"/>
          </a:p>
        </p:txBody>
      </p:sp>
      <p:sp>
        <p:nvSpPr>
          <p:cNvPr id="19" name="Text 17"/>
          <p:cNvSpPr/>
          <p:nvPr/>
        </p:nvSpPr>
        <p:spPr>
          <a:xfrm>
            <a:off x="6375241" y="4688979"/>
            <a:ext cx="5029074"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Documentation and teamwork</a:t>
            </a:r>
            <a:endParaRPr lang="en-US" sz="2200" dirty="0"/>
          </a:p>
        </p:txBody>
      </p:sp>
      <p:sp>
        <p:nvSpPr>
          <p:cNvPr id="20" name="Text 18"/>
          <p:cNvSpPr/>
          <p:nvPr/>
        </p:nvSpPr>
        <p:spPr>
          <a:xfrm>
            <a:off x="6375241" y="5190629"/>
            <a:ext cx="5029074"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Documentation, collaborative teamwork, shared review, and clear communication of the implemented system.</a:t>
            </a:r>
            <a:endParaRPr lang="en-US" sz="1700" dirty="0"/>
          </a:p>
        </p:txBody>
      </p:sp>
      <p:sp>
        <p:nvSpPr>
          <p:cNvPr id="21" name="Shape 19"/>
          <p:cNvSpPr/>
          <p:nvPr/>
        </p:nvSpPr>
        <p:spPr>
          <a:xfrm>
            <a:off x="6086323" y="2003227"/>
            <a:ext cx="19050" cy="2173387"/>
          </a:xfrm>
          <a:prstGeom prst="rect">
            <a:avLst/>
          </a:prstGeom>
          <a:solidFill>
            <a:srgbClr val="C9D3E0"/>
          </a:solidFill>
          <a:ln/>
        </p:spPr>
      </p:sp>
      <p:sp>
        <p:nvSpPr>
          <p:cNvPr id="22" name="Shape 20"/>
          <p:cNvSpPr/>
          <p:nvPr/>
        </p:nvSpPr>
        <p:spPr>
          <a:xfrm>
            <a:off x="507987" y="4167088"/>
            <a:ext cx="5587860" cy="19050"/>
          </a:xfrm>
          <a:prstGeom prst="rect">
            <a:avLst/>
          </a:prstGeom>
          <a:solidFill>
            <a:srgbClr val="C9D3E0"/>
          </a:solidFill>
          <a:ln/>
        </p:spPr>
      </p:sp>
      <p:sp>
        <p:nvSpPr>
          <p:cNvPr id="23" name="Shape 21"/>
          <p:cNvSpPr/>
          <p:nvPr/>
        </p:nvSpPr>
        <p:spPr>
          <a:xfrm>
            <a:off x="6086323" y="4176613"/>
            <a:ext cx="19050" cy="2173387"/>
          </a:xfrm>
          <a:prstGeom prst="rect">
            <a:avLst/>
          </a:prstGeom>
          <a:solidFill>
            <a:srgbClr val="C9D3E0"/>
          </a:solidFill>
          <a:ln/>
        </p:spPr>
      </p:sp>
      <p:sp>
        <p:nvSpPr>
          <p:cNvPr id="24" name="Shape 22"/>
          <p:cNvSpPr/>
          <p:nvPr/>
        </p:nvSpPr>
        <p:spPr>
          <a:xfrm>
            <a:off x="6095848" y="4167088"/>
            <a:ext cx="5587860" cy="19050"/>
          </a:xfrm>
          <a:prstGeom prst="rect">
            <a:avLst/>
          </a:prstGeom>
          <a:solidFill>
            <a:srgbClr val="C9D3E0"/>
          </a:solidFill>
          <a:ln/>
        </p:spPr>
      </p:sp>
      <p:pic>
        <p:nvPicPr>
          <p:cNvPr id="25" name="Picture 24" descr="klu_logo_cropped.png"/>
          <p:cNvPicPr>
            <a:picLocks noChangeAspect="1"/>
          </p:cNvPicPr>
          <p:nvPr/>
        </p:nvPicPr>
        <p:blipFill>
          <a:blip r:embed="rId3"/>
          <a:stretch>
            <a:fillRect/>
          </a:stretch>
        </p:blipFill>
        <p:spPr>
          <a:xfrm>
            <a:off x="73152" y="45720"/>
            <a:ext cx="777240" cy="3325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82D"/>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5303520" cy="320040"/>
          </a:xfrm>
          <a:prstGeom prst="rect">
            <a:avLst/>
          </a:prstGeom>
          <a:noFill/>
        </p:spPr>
        <p:txBody>
          <a:bodyPr wrap="none">
            <a:spAutoFit/>
          </a:bodyPr>
          <a:lstStyle/>
          <a:p>
            <a:pPr>
              <a:defRPr sz="1200" b="1">
                <a:solidFill>
                  <a:srgbClr val="5FCDD2"/>
                </a:solidFill>
                <a:latin typeface="Aptos"/>
              </a:defRPr>
            </a:pPr>
            <a:r>
              <a:t>KLU  ·  09 / CONCLUSION &amp; FUTURE SCOPE</a:t>
            </a:r>
          </a:p>
        </p:txBody>
      </p:sp>
      <p:sp>
        <p:nvSpPr>
          <p:cNvPr id="3" name="TextBox 2"/>
          <p:cNvSpPr txBox="1"/>
          <p:nvPr/>
        </p:nvSpPr>
        <p:spPr>
          <a:xfrm>
            <a:off x="594360" y="777240"/>
            <a:ext cx="10972800" cy="640080"/>
          </a:xfrm>
          <a:prstGeom prst="rect">
            <a:avLst/>
          </a:prstGeom>
          <a:noFill/>
        </p:spPr>
        <p:txBody>
          <a:bodyPr wrap="none">
            <a:spAutoFit/>
          </a:bodyPr>
          <a:lstStyle/>
          <a:p>
            <a:pPr>
              <a:defRPr sz="3000" b="1">
                <a:solidFill>
                  <a:srgbClr val="FFFFFF"/>
                </a:solidFill>
                <a:latin typeface="Aptos Display"/>
              </a:defRPr>
            </a:pPr>
            <a:r>
              <a:t>Conclusion &amp; Future Scope</a:t>
            </a:r>
          </a:p>
        </p:txBody>
      </p:sp>
      <p:sp>
        <p:nvSpPr>
          <p:cNvPr id="4" name="Rounded Rectangle 3"/>
          <p:cNvSpPr/>
          <p:nvPr/>
        </p:nvSpPr>
        <p:spPr>
          <a:xfrm>
            <a:off x="594360" y="1691640"/>
            <a:ext cx="5349240" cy="4343400"/>
          </a:xfrm>
          <a:prstGeom prst="roundRect">
            <a:avLst/>
          </a:prstGeom>
          <a:solidFill>
            <a:srgbClr val="182842"/>
          </a:solidFill>
          <a:ln w="15240">
            <a:solidFill>
              <a:srgbClr val="3148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92808"/>
            <a:ext cx="4800600" cy="411480"/>
          </a:xfrm>
          <a:prstGeom prst="rect">
            <a:avLst/>
          </a:prstGeom>
          <a:noFill/>
        </p:spPr>
        <p:txBody>
          <a:bodyPr wrap="none">
            <a:spAutoFit/>
          </a:bodyPr>
          <a:lstStyle/>
          <a:p>
            <a:pPr>
              <a:defRPr sz="1600" b="1">
                <a:solidFill>
                  <a:srgbClr val="5FCDD2"/>
                </a:solidFill>
                <a:latin typeface="Aptos"/>
              </a:defRPr>
            </a:pPr>
            <a:r>
              <a:t>CONCLUSION</a:t>
            </a:r>
          </a:p>
        </p:txBody>
      </p:sp>
      <p:sp>
        <p:nvSpPr>
          <p:cNvPr id="6" name="Rectangle 5"/>
          <p:cNvSpPr/>
          <p:nvPr/>
        </p:nvSpPr>
        <p:spPr>
          <a:xfrm>
            <a:off x="868680" y="2404872"/>
            <a:ext cx="4800600" cy="22860"/>
          </a:xfrm>
          <a:prstGeom prst="rect">
            <a:avLst/>
          </a:prstGeom>
          <a:solidFill>
            <a:srgbClr val="5FC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587752"/>
            <a:ext cx="4782312" cy="3291840"/>
          </a:xfrm>
          <a:prstGeom prst="rect">
            <a:avLst/>
          </a:prstGeom>
          <a:noFill/>
        </p:spPr>
        <p:txBody>
          <a:bodyPr wrap="square" lIns="36576" rIns="36576" tIns="27432" bIns="18288" anchor="t">
            <a:spAutoFit/>
          </a:bodyPr>
          <a:lstStyle/>
          <a:p>
            <a:pPr>
              <a:spcAft>
                <a:spcPts val="1400"/>
              </a:spcAft>
              <a:defRPr sz="1600">
                <a:solidFill>
                  <a:srgbClr val="EEF3FA"/>
                </a:solidFill>
                <a:latin typeface="Aptos"/>
              </a:defRPr>
            </a:pPr>
            <a:r>
              <a:t>Simplifies intercity bus reservations through a coordinated digital workflow.</a:t>
            </a:r>
          </a:p>
          <a:p>
            <a:pPr>
              <a:spcAft>
                <a:spcPts val="1400"/>
              </a:spcAft>
              <a:defRPr sz="1600">
                <a:solidFill>
                  <a:srgbClr val="EEF3FA"/>
                </a:solidFill>
                <a:latin typeface="Aptos"/>
              </a:defRPr>
            </a:pPr>
            <a:r>
              <a:t>Organizes routes, schedules, seats, passengers, and booking records.</a:t>
            </a:r>
          </a:p>
          <a:p>
            <a:pPr>
              <a:spcAft>
                <a:spcPts val="1400"/>
              </a:spcAft>
              <a:defRPr sz="1600">
                <a:solidFill>
                  <a:srgbClr val="EEF3FA"/>
                </a:solidFill>
                <a:latin typeface="Aptos"/>
              </a:defRPr>
            </a:pPr>
            <a:r>
              <a:t>Demonstrates practical use of Java concepts from CO1 to CO6.</a:t>
            </a:r>
          </a:p>
        </p:txBody>
      </p:sp>
      <p:sp>
        <p:nvSpPr>
          <p:cNvPr id="8" name="Rounded Rectangle 7"/>
          <p:cNvSpPr/>
          <p:nvPr/>
        </p:nvSpPr>
        <p:spPr>
          <a:xfrm>
            <a:off x="6217920" y="1691640"/>
            <a:ext cx="5349240" cy="4343400"/>
          </a:xfrm>
          <a:prstGeom prst="roundRect">
            <a:avLst/>
          </a:prstGeom>
          <a:solidFill>
            <a:srgbClr val="182842"/>
          </a:solidFill>
          <a:ln w="15240">
            <a:solidFill>
              <a:srgbClr val="3148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92808"/>
            <a:ext cx="4800600" cy="411480"/>
          </a:xfrm>
          <a:prstGeom prst="rect">
            <a:avLst/>
          </a:prstGeom>
          <a:noFill/>
        </p:spPr>
        <p:txBody>
          <a:bodyPr wrap="none">
            <a:spAutoFit/>
          </a:bodyPr>
          <a:lstStyle/>
          <a:p>
            <a:pPr>
              <a:defRPr sz="1600" b="1">
                <a:solidFill>
                  <a:srgbClr val="FFB74D"/>
                </a:solidFill>
                <a:latin typeface="Aptos"/>
              </a:defRPr>
            </a:pPr>
            <a:r>
              <a:t>FUTURE SCOPE</a:t>
            </a:r>
          </a:p>
        </p:txBody>
      </p:sp>
      <p:sp>
        <p:nvSpPr>
          <p:cNvPr id="10" name="Rectangle 9"/>
          <p:cNvSpPr/>
          <p:nvPr/>
        </p:nvSpPr>
        <p:spPr>
          <a:xfrm>
            <a:off x="6492240" y="2404872"/>
            <a:ext cx="4800600" cy="22860"/>
          </a:xfrm>
          <a:prstGeom prst="rect">
            <a:avLst/>
          </a:prstGeom>
          <a:solidFill>
            <a:srgbClr val="FFB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2587752"/>
            <a:ext cx="4782312" cy="3291840"/>
          </a:xfrm>
          <a:prstGeom prst="rect">
            <a:avLst/>
          </a:prstGeom>
          <a:noFill/>
        </p:spPr>
        <p:txBody>
          <a:bodyPr wrap="square" lIns="36576" rIns="36576" tIns="27432" bIns="18288" anchor="t">
            <a:spAutoFit/>
          </a:bodyPr>
          <a:lstStyle/>
          <a:p>
            <a:pPr>
              <a:spcAft>
                <a:spcPts val="1000"/>
              </a:spcAft>
              <a:defRPr sz="1400">
                <a:solidFill>
                  <a:srgbClr val="EEF3FA"/>
                </a:solidFill>
                <a:latin typeface="Aptos"/>
              </a:defRPr>
            </a:pPr>
            <a:r>
              <a:t>Integrate a secure online payment gateway and instant booking confirmation.</a:t>
            </a:r>
          </a:p>
          <a:p>
            <a:pPr>
              <a:spcAft>
                <a:spcPts val="1000"/>
              </a:spcAft>
              <a:defRPr sz="1400">
                <a:solidFill>
                  <a:srgbClr val="EEF3FA"/>
                </a:solidFill>
                <a:latin typeface="Aptos"/>
              </a:defRPr>
            </a:pPr>
            <a:r>
              <a:t>Add live bus tracking, estimated arrival times, and SMS/email notifications.</a:t>
            </a:r>
          </a:p>
          <a:p>
            <a:pPr>
              <a:spcAft>
                <a:spcPts val="1000"/>
              </a:spcAft>
              <a:defRPr sz="1400">
                <a:solidFill>
                  <a:srgbClr val="EEF3FA"/>
                </a:solidFill>
                <a:latin typeface="Aptos"/>
              </a:defRPr>
            </a:pPr>
            <a:r>
              <a:t>Build a mobile-friendly app with multilingual and accessibility support.</a:t>
            </a:r>
          </a:p>
          <a:p>
            <a:pPr>
              <a:spcAft>
                <a:spcPts val="1000"/>
              </a:spcAft>
              <a:defRPr sz="1400">
                <a:solidFill>
                  <a:srgbClr val="EEF3FA"/>
                </a:solidFill>
                <a:latin typeface="Aptos"/>
              </a:defRPr>
            </a:pPr>
            <a:r>
              <a:t>Use admin analytics and reports to understand demand and improve scheduling.</a:t>
            </a:r>
          </a:p>
          <a:p>
            <a:pPr>
              <a:spcAft>
                <a:spcPts val="1000"/>
              </a:spcAft>
              <a:defRPr sz="1400">
                <a:solidFill>
                  <a:srgbClr val="EEF3FA"/>
                </a:solidFill>
                <a:latin typeface="Aptos"/>
              </a:defRPr>
            </a:pPr>
            <a:r>
              <a:t>Strengthen security, prevent double-booking, and test performance under heavy traffic.</a:t>
            </a:r>
          </a:p>
        </p:txBody>
      </p:sp>
      <p:sp>
        <p:nvSpPr>
          <p:cNvPr id="12" name="TextBox 11"/>
          <p:cNvSpPr txBox="1"/>
          <p:nvPr/>
        </p:nvSpPr>
        <p:spPr>
          <a:xfrm>
            <a:off x="594360" y="6263640"/>
            <a:ext cx="10972800" cy="274320"/>
          </a:xfrm>
          <a:prstGeom prst="rect">
            <a:avLst/>
          </a:prstGeom>
          <a:noFill/>
        </p:spPr>
        <p:txBody>
          <a:bodyPr wrap="none">
            <a:spAutoFit/>
          </a:bodyPr>
          <a:lstStyle/>
          <a:p>
            <a:pPr>
              <a:defRPr sz="900">
                <a:solidFill>
                  <a:srgbClr val="9BAEC5"/>
                </a:solidFill>
                <a:latin typeface="Aptos"/>
              </a:defRPr>
            </a:pPr>
            <a:r>
              <a:t>INTERCITY BUS RESERVATION SYSTEM  ·  JAVA CAPSTONE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2026-10-05T13:09:33Z</dcterms:created>
  <dcterms:modified xsi:type="dcterms:W3CDTF">2026-10-05T13:09:33Z</dcterms:modified>
</cp:coreProperties>
</file>